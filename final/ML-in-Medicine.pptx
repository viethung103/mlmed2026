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6" r:id="rId9"/>
    <p:sldId id="267" r:id="rId10"/>
    <p:sldId id="268" r:id="rId11"/>
    <p:sldId id="264" r:id="rId12"/>
    <p:sldId id="265" r:id="rId13"/>
  </p:sldIdLst>
  <p:sldSz cx="18288000" cy="10287000"/>
  <p:notesSz cx="6858000" cy="9144000"/>
  <p:embeddedFontLst>
    <p:embeddedFont>
      <p:font typeface="Arimo" panose="020B0604020202020204" charset="0"/>
      <p:regular r:id="rId15"/>
    </p:embeddedFont>
    <p:embeddedFont>
      <p:font typeface="Barlow" panose="00000500000000000000" pitchFamily="2" charset="0"/>
      <p:regular r:id="rId16"/>
    </p:embeddedFont>
    <p:embeddedFont>
      <p:font typeface="Barlow Bold" panose="00000800000000000000" charset="0"/>
      <p:regular r:id="rId17"/>
    </p:embeddedFont>
    <p:embeddedFont>
      <p:font typeface="Barlow Medium" panose="00000600000000000000" pitchFamily="2" charset="0"/>
      <p:regular r:id="rId18"/>
    </p:embeddedFont>
    <p:embeddedFont>
      <p:font typeface="Cambria Math" panose="02040503050406030204" pitchFamily="18" charset="0"/>
      <p:regular r:id="rId19"/>
    </p:embeddedFont>
    <p:embeddedFont>
      <p:font typeface="Garet" panose="020B0604020202020204" charset="0"/>
      <p:regular r:id="rId20"/>
    </p:embeddedFont>
    <p:embeddedFont>
      <p:font typeface="Garet Bold" panose="020B0604020202020204" charset="0"/>
      <p:regular r:id="rId21"/>
    </p:embeddedFont>
    <p:embeddedFont>
      <p:font typeface="Noto Sans Bold" panose="020B0604020202020204" charset="0"/>
      <p:regular r:id="rId22"/>
    </p:embeddedFont>
    <p:embeddedFont>
      <p:font typeface="Sedgwick Ave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413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10.03.2026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4-stage pipeline: (1) image preprocessing, (2) text recognition using OCR, (3) structured information extraction in JSON format, and (4) a rule-based question answering chatbot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22.sv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11" Type="http://schemas.openxmlformats.org/officeDocument/2006/relationships/image" Target="../media/image20.svg"/><Relationship Id="rId5" Type="http://schemas.openxmlformats.org/officeDocument/2006/relationships/image" Target="../media/image17.png"/><Relationship Id="rId10" Type="http://schemas.openxmlformats.org/officeDocument/2006/relationships/image" Target="../media/image19.png"/><Relationship Id="rId4" Type="http://schemas.openxmlformats.org/officeDocument/2006/relationships/image" Target="../media/image16.svg"/><Relationship Id="rId9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16.svg"/><Relationship Id="rId7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jpe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9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28.png"/><Relationship Id="rId3" Type="http://schemas.openxmlformats.org/officeDocument/2006/relationships/image" Target="../media/image16.svg"/><Relationship Id="rId7" Type="http://schemas.openxmlformats.org/officeDocument/2006/relationships/image" Target="../media/image12.png"/><Relationship Id="rId12" Type="http://schemas.openxmlformats.org/officeDocument/2006/relationships/image" Target="../media/image2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jpeg"/><Relationship Id="rId11" Type="http://schemas.openxmlformats.org/officeDocument/2006/relationships/image" Target="../media/image26.png"/><Relationship Id="rId5" Type="http://schemas.openxmlformats.org/officeDocument/2006/relationships/image" Target="../media/image18.svg"/><Relationship Id="rId10" Type="http://schemas.openxmlformats.org/officeDocument/2006/relationships/image" Target="../media/image25.svg"/><Relationship Id="rId4" Type="http://schemas.openxmlformats.org/officeDocument/2006/relationships/image" Target="../media/image17.pn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16.svg"/><Relationship Id="rId7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jpeg"/><Relationship Id="rId11" Type="http://schemas.openxmlformats.org/officeDocument/2006/relationships/image" Target="../media/image29.png"/><Relationship Id="rId5" Type="http://schemas.openxmlformats.org/officeDocument/2006/relationships/image" Target="../media/image18.svg"/><Relationship Id="rId10" Type="http://schemas.openxmlformats.org/officeDocument/2006/relationships/image" Target="../media/image25.svg"/><Relationship Id="rId4" Type="http://schemas.openxmlformats.org/officeDocument/2006/relationships/image" Target="../media/image17.pn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16.svg"/><Relationship Id="rId7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jpe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9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16.svg"/><Relationship Id="rId7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jpe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9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16.svg"/><Relationship Id="rId7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jpe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9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16.svg"/><Relationship Id="rId7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jpeg"/><Relationship Id="rId5" Type="http://schemas.openxmlformats.org/officeDocument/2006/relationships/image" Target="../media/image18.svg"/><Relationship Id="rId10" Type="http://schemas.openxmlformats.org/officeDocument/2006/relationships/image" Target="../media/image34.png"/><Relationship Id="rId4" Type="http://schemas.openxmlformats.org/officeDocument/2006/relationships/image" Target="../media/image17.png"/><Relationship Id="rId9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16.svg"/><Relationship Id="rId7" Type="http://schemas.openxmlformats.org/officeDocument/2006/relationships/image" Target="../media/image12.png"/><Relationship Id="rId12" Type="http://schemas.openxmlformats.org/officeDocument/2006/relationships/image" Target="../media/image20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jpeg"/><Relationship Id="rId11" Type="http://schemas.openxmlformats.org/officeDocument/2006/relationships/image" Target="../media/image19.png"/><Relationship Id="rId5" Type="http://schemas.openxmlformats.org/officeDocument/2006/relationships/image" Target="../media/image18.svg"/><Relationship Id="rId10" Type="http://schemas.openxmlformats.org/officeDocument/2006/relationships/image" Target="../media/image22.svg"/><Relationship Id="rId4" Type="http://schemas.openxmlformats.org/officeDocument/2006/relationships/image" Target="../media/image17.png"/><Relationship Id="rId9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svg"/><Relationship Id="rId18" Type="http://schemas.openxmlformats.org/officeDocument/2006/relationships/image" Target="../media/image51.png"/><Relationship Id="rId26" Type="http://schemas.openxmlformats.org/officeDocument/2006/relationships/image" Target="../media/image59.png"/><Relationship Id="rId3" Type="http://schemas.openxmlformats.org/officeDocument/2006/relationships/image" Target="../media/image36.svg"/><Relationship Id="rId21" Type="http://schemas.openxmlformats.org/officeDocument/2006/relationships/image" Target="../media/image54.svg"/><Relationship Id="rId7" Type="http://schemas.openxmlformats.org/officeDocument/2006/relationships/image" Target="../media/image40.svg"/><Relationship Id="rId12" Type="http://schemas.openxmlformats.org/officeDocument/2006/relationships/image" Target="../media/image45.png"/><Relationship Id="rId17" Type="http://schemas.openxmlformats.org/officeDocument/2006/relationships/image" Target="../media/image50.svg"/><Relationship Id="rId25" Type="http://schemas.openxmlformats.org/officeDocument/2006/relationships/image" Target="../media/image58.svg"/><Relationship Id="rId2" Type="http://schemas.openxmlformats.org/officeDocument/2006/relationships/image" Target="../media/image35.png"/><Relationship Id="rId16" Type="http://schemas.openxmlformats.org/officeDocument/2006/relationships/image" Target="../media/image49.png"/><Relationship Id="rId20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11" Type="http://schemas.openxmlformats.org/officeDocument/2006/relationships/image" Target="../media/image44.svg"/><Relationship Id="rId24" Type="http://schemas.openxmlformats.org/officeDocument/2006/relationships/image" Target="../media/image57.png"/><Relationship Id="rId5" Type="http://schemas.openxmlformats.org/officeDocument/2006/relationships/image" Target="../media/image38.svg"/><Relationship Id="rId15" Type="http://schemas.openxmlformats.org/officeDocument/2006/relationships/image" Target="../media/image48.svg"/><Relationship Id="rId23" Type="http://schemas.openxmlformats.org/officeDocument/2006/relationships/image" Target="../media/image56.svg"/><Relationship Id="rId10" Type="http://schemas.openxmlformats.org/officeDocument/2006/relationships/image" Target="../media/image43.png"/><Relationship Id="rId19" Type="http://schemas.openxmlformats.org/officeDocument/2006/relationships/image" Target="../media/image52.svg"/><Relationship Id="rId4" Type="http://schemas.openxmlformats.org/officeDocument/2006/relationships/image" Target="../media/image37.png"/><Relationship Id="rId9" Type="http://schemas.openxmlformats.org/officeDocument/2006/relationships/image" Target="../media/image42.svg"/><Relationship Id="rId14" Type="http://schemas.openxmlformats.org/officeDocument/2006/relationships/image" Target="../media/image47.png"/><Relationship Id="rId22" Type="http://schemas.openxmlformats.org/officeDocument/2006/relationships/image" Target="../media/image55.png"/><Relationship Id="rId27" Type="http://schemas.openxmlformats.org/officeDocument/2006/relationships/image" Target="../media/image6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4738" y="498596"/>
            <a:ext cx="17224562" cy="2854624"/>
            <a:chOff x="0" y="0"/>
            <a:chExt cx="22966083" cy="38061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966077" cy="3806163"/>
            </a:xfrm>
            <a:custGeom>
              <a:avLst/>
              <a:gdLst/>
              <a:ahLst/>
              <a:cxnLst/>
              <a:rect l="l" t="t" r="r" b="b"/>
              <a:pathLst>
                <a:path w="22966077" h="3806163">
                  <a:moveTo>
                    <a:pt x="0" y="0"/>
                  </a:moveTo>
                  <a:lnTo>
                    <a:pt x="22966077" y="0"/>
                  </a:lnTo>
                  <a:lnTo>
                    <a:pt x="22966077" y="3806163"/>
                  </a:lnTo>
                  <a:lnTo>
                    <a:pt x="0" y="380616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949" r="49606" b="-2543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966083" cy="384426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r">
                <a:lnSpc>
                  <a:spcPts val="9600"/>
                </a:lnSpc>
              </a:pPr>
              <a:r>
                <a:rPr lang="en-US" sz="8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Object Detection for </a:t>
              </a:r>
            </a:p>
            <a:p>
              <a:pPr algn="r">
                <a:lnSpc>
                  <a:spcPts val="9600"/>
                </a:lnSpc>
              </a:pPr>
              <a:r>
                <a:rPr lang="en-US" sz="8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Turkish Pharmaceutial Drug Dataset</a:t>
              </a:r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 rot="-1138496">
            <a:off x="752013" y="4579240"/>
            <a:ext cx="3714735" cy="5246370"/>
            <a:chOff x="0" y="0"/>
            <a:chExt cx="3267456" cy="46146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267456" cy="4618736"/>
            </a:xfrm>
            <a:custGeom>
              <a:avLst/>
              <a:gdLst/>
              <a:ahLst/>
              <a:cxnLst/>
              <a:rect l="l" t="t" r="r" b="b"/>
              <a:pathLst>
                <a:path w="3267456" h="4618736">
                  <a:moveTo>
                    <a:pt x="3267456" y="4618736"/>
                  </a:moveTo>
                  <a:lnTo>
                    <a:pt x="0" y="4618736"/>
                  </a:lnTo>
                  <a:lnTo>
                    <a:pt x="0" y="0"/>
                  </a:lnTo>
                  <a:lnTo>
                    <a:pt x="3267456" y="0"/>
                  </a:lnTo>
                  <a:lnTo>
                    <a:pt x="3267456" y="4618736"/>
                  </a:lnTo>
                  <a:close/>
                </a:path>
              </a:pathLst>
            </a:custGeom>
            <a:blipFill>
              <a:blip r:embed="rId3"/>
              <a:stretch>
                <a:fillRect l="-4" r="-4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56770" y="48203"/>
              <a:ext cx="3142190" cy="3592604"/>
            </a:xfrm>
            <a:custGeom>
              <a:avLst/>
              <a:gdLst/>
              <a:ahLst/>
              <a:cxnLst/>
              <a:rect l="l" t="t" r="r" b="b"/>
              <a:pathLst>
                <a:path w="3142190" h="3592604">
                  <a:moveTo>
                    <a:pt x="3142190" y="35325"/>
                  </a:moveTo>
                  <a:lnTo>
                    <a:pt x="3106219" y="3592604"/>
                  </a:lnTo>
                  <a:lnTo>
                    <a:pt x="0" y="3558211"/>
                  </a:lnTo>
                  <a:lnTo>
                    <a:pt x="28183" y="0"/>
                  </a:lnTo>
                  <a:lnTo>
                    <a:pt x="3142190" y="35325"/>
                  </a:lnTo>
                  <a:close/>
                </a:path>
              </a:pathLst>
            </a:custGeom>
            <a:blipFill>
              <a:blip r:embed="rId4"/>
              <a:stretch>
                <a:fillRect l="-7167" r="-7167"/>
              </a:stretch>
            </a:blip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 rot="1180740">
            <a:off x="6099459" y="4612091"/>
            <a:ext cx="3714735" cy="5246370"/>
            <a:chOff x="0" y="0"/>
            <a:chExt cx="3267456" cy="46146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267456" cy="4618736"/>
            </a:xfrm>
            <a:custGeom>
              <a:avLst/>
              <a:gdLst/>
              <a:ahLst/>
              <a:cxnLst/>
              <a:rect l="l" t="t" r="r" b="b"/>
              <a:pathLst>
                <a:path w="3267456" h="4618736">
                  <a:moveTo>
                    <a:pt x="3267456" y="4618736"/>
                  </a:moveTo>
                  <a:lnTo>
                    <a:pt x="0" y="4618736"/>
                  </a:lnTo>
                  <a:lnTo>
                    <a:pt x="0" y="0"/>
                  </a:lnTo>
                  <a:lnTo>
                    <a:pt x="3267456" y="0"/>
                  </a:lnTo>
                  <a:lnTo>
                    <a:pt x="3267456" y="4618736"/>
                  </a:lnTo>
                  <a:close/>
                </a:path>
              </a:pathLst>
            </a:custGeom>
            <a:blipFill>
              <a:blip r:embed="rId3"/>
              <a:stretch>
                <a:fillRect l="-4" r="-4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56770" y="48203"/>
              <a:ext cx="3142190" cy="3592604"/>
            </a:xfrm>
            <a:custGeom>
              <a:avLst/>
              <a:gdLst/>
              <a:ahLst/>
              <a:cxnLst/>
              <a:rect l="l" t="t" r="r" b="b"/>
              <a:pathLst>
                <a:path w="3142190" h="3592604">
                  <a:moveTo>
                    <a:pt x="3142190" y="35325"/>
                  </a:moveTo>
                  <a:lnTo>
                    <a:pt x="3106219" y="3592604"/>
                  </a:lnTo>
                  <a:lnTo>
                    <a:pt x="0" y="3558211"/>
                  </a:lnTo>
                  <a:lnTo>
                    <a:pt x="28183" y="0"/>
                  </a:lnTo>
                  <a:lnTo>
                    <a:pt x="3142190" y="35325"/>
                  </a:lnTo>
                  <a:close/>
                </a:path>
              </a:pathLst>
            </a:custGeom>
            <a:blipFill>
              <a:blip r:embed="rId5"/>
              <a:stretch>
                <a:fillRect l="-7167" r="-7167"/>
              </a:stretch>
            </a:blipFill>
          </p:spPr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3525307" y="3353220"/>
            <a:ext cx="3714735" cy="5246370"/>
            <a:chOff x="0" y="0"/>
            <a:chExt cx="3267456" cy="461467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267456" cy="4618736"/>
            </a:xfrm>
            <a:custGeom>
              <a:avLst/>
              <a:gdLst/>
              <a:ahLst/>
              <a:cxnLst/>
              <a:rect l="l" t="t" r="r" b="b"/>
              <a:pathLst>
                <a:path w="3267456" h="4618736">
                  <a:moveTo>
                    <a:pt x="3267456" y="4618736"/>
                  </a:moveTo>
                  <a:lnTo>
                    <a:pt x="0" y="4618736"/>
                  </a:lnTo>
                  <a:lnTo>
                    <a:pt x="0" y="0"/>
                  </a:lnTo>
                  <a:lnTo>
                    <a:pt x="3267456" y="0"/>
                  </a:lnTo>
                  <a:lnTo>
                    <a:pt x="3267456" y="4618736"/>
                  </a:lnTo>
                  <a:close/>
                </a:path>
              </a:pathLst>
            </a:custGeom>
            <a:blipFill>
              <a:blip r:embed="rId3"/>
              <a:stretch>
                <a:fillRect l="-4" r="-4"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56770" y="48203"/>
              <a:ext cx="3142190" cy="3592604"/>
            </a:xfrm>
            <a:custGeom>
              <a:avLst/>
              <a:gdLst/>
              <a:ahLst/>
              <a:cxnLst/>
              <a:rect l="l" t="t" r="r" b="b"/>
              <a:pathLst>
                <a:path w="3142190" h="3592604">
                  <a:moveTo>
                    <a:pt x="3142190" y="35325"/>
                  </a:moveTo>
                  <a:lnTo>
                    <a:pt x="3106219" y="3592604"/>
                  </a:lnTo>
                  <a:lnTo>
                    <a:pt x="0" y="3558211"/>
                  </a:lnTo>
                  <a:lnTo>
                    <a:pt x="28183" y="0"/>
                  </a:lnTo>
                  <a:lnTo>
                    <a:pt x="3142190" y="35325"/>
                  </a:lnTo>
                  <a:close/>
                </a:path>
              </a:pathLst>
            </a:custGeom>
            <a:blipFill>
              <a:blip r:embed="rId6"/>
              <a:stretch>
                <a:fillRect l="-7167" r="-7167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9270178" y="3868369"/>
            <a:ext cx="7989122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sz="3600" b="1">
                <a:solidFill>
                  <a:srgbClr val="77C6FC"/>
                </a:solidFill>
                <a:latin typeface="Barlow Medium"/>
                <a:ea typeface="Barlow Medium"/>
                <a:cs typeface="Barlow Medium"/>
                <a:sym typeface="Barlow Medium"/>
              </a:rPr>
              <a:t>Group 7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9279180">
            <a:off x="14259697" y="1128160"/>
            <a:ext cx="2582447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8007600">
            <a:off x="16334337" y="818559"/>
            <a:ext cx="2330520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6128721" y="1054084"/>
            <a:ext cx="1162802" cy="1164241"/>
          </a:xfrm>
          <a:custGeom>
            <a:avLst/>
            <a:gdLst/>
            <a:ahLst/>
            <a:cxnLst/>
            <a:rect l="l" t="t" r="r" b="b"/>
            <a:pathLst>
              <a:path w="1162802" h="1164241">
                <a:moveTo>
                  <a:pt x="0" y="0"/>
                </a:moveTo>
                <a:lnTo>
                  <a:pt x="1162802" y="0"/>
                </a:lnTo>
                <a:lnTo>
                  <a:pt x="1162802" y="1164241"/>
                </a:lnTo>
                <a:lnTo>
                  <a:pt x="0" y="11642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068082" y="342005"/>
            <a:ext cx="583197" cy="584644"/>
          </a:xfrm>
          <a:custGeom>
            <a:avLst/>
            <a:gdLst/>
            <a:ahLst/>
            <a:cxnLst/>
            <a:rect l="l" t="t" r="r" b="b"/>
            <a:pathLst>
              <a:path w="583197" h="584644">
                <a:moveTo>
                  <a:pt x="0" y="0"/>
                </a:moveTo>
                <a:lnTo>
                  <a:pt x="583197" y="0"/>
                </a:lnTo>
                <a:lnTo>
                  <a:pt x="583197" y="584644"/>
                </a:lnTo>
                <a:lnTo>
                  <a:pt x="0" y="584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516161" y="459362"/>
            <a:ext cx="349196" cy="349196"/>
          </a:xfrm>
          <a:custGeom>
            <a:avLst/>
            <a:gdLst/>
            <a:ahLst/>
            <a:cxnLst/>
            <a:rect l="l" t="t" r="r" b="b"/>
            <a:pathLst>
              <a:path w="349196" h="349196">
                <a:moveTo>
                  <a:pt x="0" y="0"/>
                </a:moveTo>
                <a:lnTo>
                  <a:pt x="349196" y="0"/>
                </a:lnTo>
                <a:lnTo>
                  <a:pt x="349196" y="349196"/>
                </a:lnTo>
                <a:lnTo>
                  <a:pt x="0" y="3491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979760" y="342005"/>
            <a:ext cx="349920" cy="53283"/>
          </a:xfrm>
          <a:custGeom>
            <a:avLst/>
            <a:gdLst/>
            <a:ahLst/>
            <a:cxnLst/>
            <a:rect l="l" t="t" r="r" b="b"/>
            <a:pathLst>
              <a:path w="349920" h="53283">
                <a:moveTo>
                  <a:pt x="0" y="0"/>
                </a:moveTo>
                <a:lnTo>
                  <a:pt x="349920" y="0"/>
                </a:lnTo>
                <a:lnTo>
                  <a:pt x="349920" y="53282"/>
                </a:lnTo>
                <a:lnTo>
                  <a:pt x="0" y="532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832798" y="2249281"/>
            <a:ext cx="349196" cy="53283"/>
          </a:xfrm>
          <a:custGeom>
            <a:avLst/>
            <a:gdLst/>
            <a:ahLst/>
            <a:cxnLst/>
            <a:rect l="l" t="t" r="r" b="b"/>
            <a:pathLst>
              <a:path w="349196" h="53283">
                <a:moveTo>
                  <a:pt x="0" y="0"/>
                </a:moveTo>
                <a:lnTo>
                  <a:pt x="349196" y="0"/>
                </a:lnTo>
                <a:lnTo>
                  <a:pt x="349196" y="53283"/>
                </a:lnTo>
                <a:lnTo>
                  <a:pt x="0" y="532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0" y="-22488"/>
            <a:ext cx="9512534" cy="10309488"/>
            <a:chOff x="0" y="0"/>
            <a:chExt cx="2505359" cy="27152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505359" cy="2715256"/>
            </a:xfrm>
            <a:custGeom>
              <a:avLst/>
              <a:gdLst/>
              <a:ahLst/>
              <a:cxnLst/>
              <a:rect l="l" t="t" r="r" b="b"/>
              <a:pathLst>
                <a:path w="2505359" h="2715256">
                  <a:moveTo>
                    <a:pt x="0" y="0"/>
                  </a:moveTo>
                  <a:lnTo>
                    <a:pt x="2505359" y="0"/>
                  </a:lnTo>
                  <a:lnTo>
                    <a:pt x="2505359" y="2715256"/>
                  </a:lnTo>
                  <a:lnTo>
                    <a:pt x="0" y="2715256"/>
                  </a:lnTo>
                  <a:close/>
                </a:path>
              </a:pathLst>
            </a:custGeom>
            <a:solidFill>
              <a:srgbClr val="DCF1F4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505359" cy="2753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99878" y="2025650"/>
            <a:ext cx="7141683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Team Members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928020" y="385762"/>
            <a:ext cx="3656493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Agenda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22084" y="3292475"/>
            <a:ext cx="8297271" cy="596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7999"/>
              </a:lnSpc>
              <a:buAutoNum type="arabicPeriod"/>
            </a:pPr>
            <a:r>
              <a:rPr lang="en-US" sz="39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Hoang Kim Huong - 22BA13158 </a:t>
            </a:r>
          </a:p>
          <a:p>
            <a:pPr marL="863599" lvl="1" indent="-431800" algn="l">
              <a:lnSpc>
                <a:spcPts val="7999"/>
              </a:lnSpc>
              <a:buAutoNum type="arabicPeriod"/>
            </a:pPr>
            <a:r>
              <a:rPr lang="en-US" sz="39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Doan Ngoc Linh - 22BA13190 </a:t>
            </a:r>
          </a:p>
          <a:p>
            <a:pPr marL="863599" lvl="1" indent="-431800" algn="l">
              <a:lnSpc>
                <a:spcPts val="7999"/>
              </a:lnSpc>
              <a:buAutoNum type="arabicPeriod"/>
            </a:pPr>
            <a:r>
              <a:rPr lang="en-US" sz="39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Dang Dinh Hoa - 23BI14169 </a:t>
            </a:r>
          </a:p>
          <a:p>
            <a:pPr marL="863599" lvl="1" indent="-431800" algn="l">
              <a:lnSpc>
                <a:spcPts val="7999"/>
              </a:lnSpc>
              <a:buAutoNum type="arabicPeriod"/>
            </a:pPr>
            <a:r>
              <a:rPr lang="en-US" sz="39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Le Viet Hung - 23BI14182</a:t>
            </a:r>
          </a:p>
          <a:p>
            <a:pPr marL="863599" lvl="1" indent="-431800" algn="l">
              <a:lnSpc>
                <a:spcPts val="7999"/>
              </a:lnSpc>
              <a:buAutoNum type="arabicPeriod"/>
            </a:pPr>
            <a:r>
              <a:rPr lang="en-US" sz="39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Nguyen Gia Nam - 23BI14328 </a:t>
            </a:r>
          </a:p>
          <a:p>
            <a:pPr marL="863599" lvl="1" indent="-431800" algn="l">
              <a:lnSpc>
                <a:spcPts val="7999"/>
              </a:lnSpc>
              <a:buAutoNum type="arabicPeriod"/>
            </a:pPr>
            <a:r>
              <a:rPr lang="en-US" sz="39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Nguyen Duc Thanh - 23BI14406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383254" y="2546550"/>
            <a:ext cx="954070" cy="954070"/>
            <a:chOff x="0" y="0"/>
            <a:chExt cx="1717827" cy="171782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717802" cy="1717802"/>
            </a:xfrm>
            <a:custGeom>
              <a:avLst/>
              <a:gdLst/>
              <a:ahLst/>
              <a:cxnLst/>
              <a:rect l="l" t="t" r="r" b="b"/>
              <a:pathLst>
                <a:path w="1717802" h="1717802">
                  <a:moveTo>
                    <a:pt x="858901" y="0"/>
                  </a:moveTo>
                  <a:cubicBezTo>
                    <a:pt x="384556" y="0"/>
                    <a:pt x="0" y="384556"/>
                    <a:pt x="0" y="858901"/>
                  </a:cubicBezTo>
                  <a:cubicBezTo>
                    <a:pt x="0" y="1333246"/>
                    <a:pt x="384556" y="1717802"/>
                    <a:pt x="858901" y="1717802"/>
                  </a:cubicBezTo>
                  <a:cubicBezTo>
                    <a:pt x="1333246" y="1717802"/>
                    <a:pt x="1717802" y="1333246"/>
                    <a:pt x="1717802" y="858901"/>
                  </a:cubicBezTo>
                  <a:cubicBezTo>
                    <a:pt x="1717802" y="384556"/>
                    <a:pt x="1333246" y="0"/>
                    <a:pt x="858901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472699" y="2557730"/>
            <a:ext cx="775179" cy="853445"/>
            <a:chOff x="0" y="0"/>
            <a:chExt cx="1395730" cy="153664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95736" cy="1536652"/>
            </a:xfrm>
            <a:custGeom>
              <a:avLst/>
              <a:gdLst/>
              <a:ahLst/>
              <a:cxnLst/>
              <a:rect l="l" t="t" r="r" b="b"/>
              <a:pathLst>
                <a:path w="1395736" h="1536652">
                  <a:moveTo>
                    <a:pt x="0" y="0"/>
                  </a:moveTo>
                  <a:lnTo>
                    <a:pt x="1395736" y="0"/>
                  </a:lnTo>
                  <a:lnTo>
                    <a:pt x="1395736" y="1536652"/>
                  </a:lnTo>
                  <a:lnTo>
                    <a:pt x="0" y="1536652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-91257" r="-91256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66675"/>
              <a:ext cx="1395730" cy="16033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83254" y="3832134"/>
            <a:ext cx="954070" cy="954070"/>
            <a:chOff x="0" y="0"/>
            <a:chExt cx="1717827" cy="171782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717802" cy="1717802"/>
            </a:xfrm>
            <a:custGeom>
              <a:avLst/>
              <a:gdLst/>
              <a:ahLst/>
              <a:cxnLst/>
              <a:rect l="l" t="t" r="r" b="b"/>
              <a:pathLst>
                <a:path w="1717802" h="1717802">
                  <a:moveTo>
                    <a:pt x="858901" y="0"/>
                  </a:moveTo>
                  <a:cubicBezTo>
                    <a:pt x="384556" y="0"/>
                    <a:pt x="0" y="384556"/>
                    <a:pt x="0" y="858901"/>
                  </a:cubicBezTo>
                  <a:cubicBezTo>
                    <a:pt x="0" y="1333246"/>
                    <a:pt x="384556" y="1717802"/>
                    <a:pt x="858901" y="1717802"/>
                  </a:cubicBezTo>
                  <a:cubicBezTo>
                    <a:pt x="1333246" y="1717802"/>
                    <a:pt x="1717802" y="1333246"/>
                    <a:pt x="1717802" y="858901"/>
                  </a:cubicBezTo>
                  <a:cubicBezTo>
                    <a:pt x="1717802" y="384556"/>
                    <a:pt x="1333246" y="0"/>
                    <a:pt x="858901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472699" y="3843314"/>
            <a:ext cx="775179" cy="853445"/>
            <a:chOff x="0" y="0"/>
            <a:chExt cx="1395730" cy="153664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395736" cy="1536652"/>
            </a:xfrm>
            <a:custGeom>
              <a:avLst/>
              <a:gdLst/>
              <a:ahLst/>
              <a:cxnLst/>
              <a:rect l="l" t="t" r="r" b="b"/>
              <a:pathLst>
                <a:path w="1395736" h="1536652">
                  <a:moveTo>
                    <a:pt x="0" y="0"/>
                  </a:moveTo>
                  <a:lnTo>
                    <a:pt x="1395736" y="0"/>
                  </a:lnTo>
                  <a:lnTo>
                    <a:pt x="1395736" y="1536652"/>
                  </a:lnTo>
                  <a:lnTo>
                    <a:pt x="0" y="1536652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-91257" r="-91256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66675"/>
              <a:ext cx="1395730" cy="16033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2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83254" y="5117718"/>
            <a:ext cx="954070" cy="954070"/>
            <a:chOff x="0" y="0"/>
            <a:chExt cx="1717827" cy="171782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717802" cy="1717802"/>
            </a:xfrm>
            <a:custGeom>
              <a:avLst/>
              <a:gdLst/>
              <a:ahLst/>
              <a:cxnLst/>
              <a:rect l="l" t="t" r="r" b="b"/>
              <a:pathLst>
                <a:path w="1717802" h="1717802">
                  <a:moveTo>
                    <a:pt x="858901" y="0"/>
                  </a:moveTo>
                  <a:cubicBezTo>
                    <a:pt x="384556" y="0"/>
                    <a:pt x="0" y="384556"/>
                    <a:pt x="0" y="858901"/>
                  </a:cubicBezTo>
                  <a:cubicBezTo>
                    <a:pt x="0" y="1333246"/>
                    <a:pt x="384556" y="1717802"/>
                    <a:pt x="858901" y="1717802"/>
                  </a:cubicBezTo>
                  <a:cubicBezTo>
                    <a:pt x="1333246" y="1717802"/>
                    <a:pt x="1717802" y="1333246"/>
                    <a:pt x="1717802" y="858901"/>
                  </a:cubicBezTo>
                  <a:cubicBezTo>
                    <a:pt x="1717802" y="384556"/>
                    <a:pt x="1333246" y="0"/>
                    <a:pt x="858901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472699" y="5128898"/>
            <a:ext cx="775179" cy="853445"/>
            <a:chOff x="0" y="0"/>
            <a:chExt cx="1395730" cy="153664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395736" cy="1536652"/>
            </a:xfrm>
            <a:custGeom>
              <a:avLst/>
              <a:gdLst/>
              <a:ahLst/>
              <a:cxnLst/>
              <a:rect l="l" t="t" r="r" b="b"/>
              <a:pathLst>
                <a:path w="1395736" h="1536652">
                  <a:moveTo>
                    <a:pt x="0" y="0"/>
                  </a:moveTo>
                  <a:lnTo>
                    <a:pt x="1395736" y="0"/>
                  </a:lnTo>
                  <a:lnTo>
                    <a:pt x="1395736" y="1536652"/>
                  </a:lnTo>
                  <a:lnTo>
                    <a:pt x="0" y="1536652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-91257" r="-91256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66675"/>
              <a:ext cx="1395730" cy="16033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3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83254" y="6403302"/>
            <a:ext cx="954070" cy="954070"/>
            <a:chOff x="0" y="0"/>
            <a:chExt cx="1717827" cy="1717827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717802" cy="1717802"/>
            </a:xfrm>
            <a:custGeom>
              <a:avLst/>
              <a:gdLst/>
              <a:ahLst/>
              <a:cxnLst/>
              <a:rect l="l" t="t" r="r" b="b"/>
              <a:pathLst>
                <a:path w="1717802" h="1717802">
                  <a:moveTo>
                    <a:pt x="858901" y="0"/>
                  </a:moveTo>
                  <a:cubicBezTo>
                    <a:pt x="384556" y="0"/>
                    <a:pt x="0" y="384556"/>
                    <a:pt x="0" y="858901"/>
                  </a:cubicBezTo>
                  <a:cubicBezTo>
                    <a:pt x="0" y="1333246"/>
                    <a:pt x="384556" y="1717802"/>
                    <a:pt x="858901" y="1717802"/>
                  </a:cubicBezTo>
                  <a:cubicBezTo>
                    <a:pt x="1333246" y="1717802"/>
                    <a:pt x="1717802" y="1333246"/>
                    <a:pt x="1717802" y="858901"/>
                  </a:cubicBezTo>
                  <a:cubicBezTo>
                    <a:pt x="1717802" y="384556"/>
                    <a:pt x="1333246" y="0"/>
                    <a:pt x="858901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472699" y="6414482"/>
            <a:ext cx="775179" cy="853445"/>
            <a:chOff x="0" y="0"/>
            <a:chExt cx="1395730" cy="153664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395736" cy="1536652"/>
            </a:xfrm>
            <a:custGeom>
              <a:avLst/>
              <a:gdLst/>
              <a:ahLst/>
              <a:cxnLst/>
              <a:rect l="l" t="t" r="r" b="b"/>
              <a:pathLst>
                <a:path w="1395736" h="1536652">
                  <a:moveTo>
                    <a:pt x="0" y="0"/>
                  </a:moveTo>
                  <a:lnTo>
                    <a:pt x="1395736" y="0"/>
                  </a:lnTo>
                  <a:lnTo>
                    <a:pt x="1395736" y="1536652"/>
                  </a:lnTo>
                  <a:lnTo>
                    <a:pt x="0" y="1536652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-91257" r="-91256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66675"/>
              <a:ext cx="1395730" cy="16033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4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459003" y="2677304"/>
            <a:ext cx="3156195" cy="629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3"/>
              </a:lnSpc>
            </a:pPr>
            <a:r>
              <a:rPr lang="en-US" sz="370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Introduction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59003" y="5207981"/>
            <a:ext cx="7700948" cy="628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3"/>
              </a:lnSpc>
            </a:pPr>
            <a:r>
              <a:rPr lang="en-US" sz="370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Methodology &amp; Implementation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59003" y="6493565"/>
            <a:ext cx="2535326" cy="628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3"/>
              </a:lnSpc>
            </a:pPr>
            <a:r>
              <a:rPr lang="en-US" sz="370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Evaluation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352583" y="7690747"/>
            <a:ext cx="954070" cy="954070"/>
            <a:chOff x="0" y="0"/>
            <a:chExt cx="1717827" cy="1717827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717802" cy="1717802"/>
            </a:xfrm>
            <a:custGeom>
              <a:avLst/>
              <a:gdLst/>
              <a:ahLst/>
              <a:cxnLst/>
              <a:rect l="l" t="t" r="r" b="b"/>
              <a:pathLst>
                <a:path w="1717802" h="1717802">
                  <a:moveTo>
                    <a:pt x="858901" y="0"/>
                  </a:moveTo>
                  <a:cubicBezTo>
                    <a:pt x="384556" y="0"/>
                    <a:pt x="0" y="384556"/>
                    <a:pt x="0" y="858901"/>
                  </a:cubicBezTo>
                  <a:cubicBezTo>
                    <a:pt x="0" y="1333246"/>
                    <a:pt x="384556" y="1717802"/>
                    <a:pt x="858901" y="1717802"/>
                  </a:cubicBezTo>
                  <a:cubicBezTo>
                    <a:pt x="1333246" y="1717802"/>
                    <a:pt x="1717802" y="1333246"/>
                    <a:pt x="1717802" y="858901"/>
                  </a:cubicBezTo>
                  <a:cubicBezTo>
                    <a:pt x="1717802" y="384556"/>
                    <a:pt x="1333246" y="0"/>
                    <a:pt x="858901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442028" y="7701926"/>
            <a:ext cx="775179" cy="853445"/>
            <a:chOff x="0" y="0"/>
            <a:chExt cx="1395730" cy="153664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395736" cy="1536652"/>
            </a:xfrm>
            <a:custGeom>
              <a:avLst/>
              <a:gdLst/>
              <a:ahLst/>
              <a:cxnLst/>
              <a:rect l="l" t="t" r="r" b="b"/>
              <a:pathLst>
                <a:path w="1395736" h="1536652">
                  <a:moveTo>
                    <a:pt x="0" y="0"/>
                  </a:moveTo>
                  <a:lnTo>
                    <a:pt x="1395736" y="0"/>
                  </a:lnTo>
                  <a:lnTo>
                    <a:pt x="1395736" y="1536652"/>
                  </a:lnTo>
                  <a:lnTo>
                    <a:pt x="0" y="1536652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-91257" r="-91256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66675"/>
              <a:ext cx="1395730" cy="16033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5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459003" y="7819517"/>
            <a:ext cx="7051488" cy="629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3"/>
              </a:lnSpc>
            </a:pPr>
            <a:r>
              <a:rPr lang="en-US" sz="370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Conclusion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459003" y="3922397"/>
            <a:ext cx="3850474" cy="629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3"/>
              </a:lnSpc>
            </a:pPr>
            <a:r>
              <a:rPr lang="en-US" sz="370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Data Overview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80909" y="2111200"/>
            <a:ext cx="8087333" cy="3881427"/>
            <a:chOff x="0" y="0"/>
            <a:chExt cx="2129997" cy="10222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29997" cy="1022269"/>
            </a:xfrm>
            <a:custGeom>
              <a:avLst/>
              <a:gdLst/>
              <a:ahLst/>
              <a:cxnLst/>
              <a:rect l="l" t="t" r="r" b="b"/>
              <a:pathLst>
                <a:path w="2129997" h="1022269">
                  <a:moveTo>
                    <a:pt x="0" y="0"/>
                  </a:moveTo>
                  <a:lnTo>
                    <a:pt x="2129997" y="0"/>
                  </a:lnTo>
                  <a:lnTo>
                    <a:pt x="2129997" y="1022269"/>
                  </a:lnTo>
                  <a:lnTo>
                    <a:pt x="0" y="1022269"/>
                  </a:lnTo>
                  <a:close/>
                </a:path>
              </a:pathLst>
            </a:custGeom>
            <a:solidFill>
              <a:srgbClr val="DCF1F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29997" cy="10603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rot="-8285520">
            <a:off x="14724812" y="1645482"/>
            <a:ext cx="2255577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rot="7437660">
            <a:off x="16047863" y="1161640"/>
            <a:ext cx="2887637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16125844" y="1766878"/>
            <a:ext cx="1162802" cy="1164241"/>
          </a:xfrm>
          <a:custGeom>
            <a:avLst/>
            <a:gdLst/>
            <a:ahLst/>
            <a:cxnLst/>
            <a:rect l="l" t="t" r="r" b="b"/>
            <a:pathLst>
              <a:path w="1162802" h="1164241">
                <a:moveTo>
                  <a:pt x="0" y="0"/>
                </a:moveTo>
                <a:lnTo>
                  <a:pt x="1162803" y="0"/>
                </a:lnTo>
                <a:lnTo>
                  <a:pt x="1162803" y="1164241"/>
                </a:lnTo>
                <a:lnTo>
                  <a:pt x="0" y="11642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703123" y="623516"/>
            <a:ext cx="583197" cy="584645"/>
          </a:xfrm>
          <a:custGeom>
            <a:avLst/>
            <a:gdLst/>
            <a:ahLst/>
            <a:cxnLst/>
            <a:rect l="l" t="t" r="r" b="b"/>
            <a:pathLst>
              <a:path w="583197" h="584645">
                <a:moveTo>
                  <a:pt x="0" y="0"/>
                </a:moveTo>
                <a:lnTo>
                  <a:pt x="583197" y="0"/>
                </a:lnTo>
                <a:lnTo>
                  <a:pt x="583197" y="584645"/>
                </a:lnTo>
                <a:lnTo>
                  <a:pt x="0" y="5846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976884" y="333356"/>
            <a:ext cx="349920" cy="53283"/>
          </a:xfrm>
          <a:custGeom>
            <a:avLst/>
            <a:gdLst/>
            <a:ahLst/>
            <a:cxnLst/>
            <a:rect l="l" t="t" r="r" b="b"/>
            <a:pathLst>
              <a:path w="349920" h="53283">
                <a:moveTo>
                  <a:pt x="0" y="0"/>
                </a:moveTo>
                <a:lnTo>
                  <a:pt x="349920" y="0"/>
                </a:lnTo>
                <a:lnTo>
                  <a:pt x="349920" y="53283"/>
                </a:lnTo>
                <a:lnTo>
                  <a:pt x="0" y="532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028700" y="2111200"/>
            <a:ext cx="7978391" cy="3881427"/>
            <a:chOff x="0" y="0"/>
            <a:chExt cx="2101305" cy="102226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01305" cy="1022269"/>
            </a:xfrm>
            <a:custGeom>
              <a:avLst/>
              <a:gdLst/>
              <a:ahLst/>
              <a:cxnLst/>
              <a:rect l="l" t="t" r="r" b="b"/>
              <a:pathLst>
                <a:path w="2101305" h="1022269">
                  <a:moveTo>
                    <a:pt x="0" y="0"/>
                  </a:moveTo>
                  <a:lnTo>
                    <a:pt x="2101305" y="0"/>
                  </a:lnTo>
                  <a:lnTo>
                    <a:pt x="2101305" y="1022269"/>
                  </a:lnTo>
                  <a:lnTo>
                    <a:pt x="0" y="1022269"/>
                  </a:lnTo>
                  <a:close/>
                </a:path>
              </a:pathLst>
            </a:custGeom>
            <a:solidFill>
              <a:srgbClr val="DCF1F4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101305" cy="10603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28700" y="427324"/>
            <a:ext cx="5235566" cy="1202752"/>
            <a:chOff x="0" y="0"/>
            <a:chExt cx="8621011" cy="198048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621011" cy="1980484"/>
            </a:xfrm>
            <a:custGeom>
              <a:avLst/>
              <a:gdLst/>
              <a:ahLst/>
              <a:cxnLst/>
              <a:rect l="l" t="t" r="r" b="b"/>
              <a:pathLst>
                <a:path w="8621011" h="1980484">
                  <a:moveTo>
                    <a:pt x="0" y="0"/>
                  </a:moveTo>
                  <a:lnTo>
                    <a:pt x="8621011" y="0"/>
                  </a:lnTo>
                  <a:lnTo>
                    <a:pt x="8621011" y="1980484"/>
                  </a:lnTo>
                  <a:lnTo>
                    <a:pt x="0" y="198048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51703" r="-19907" b="-51703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8621011" cy="199953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3D3D3D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01. Introduction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36783" y="2393788"/>
            <a:ext cx="7162225" cy="3177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3999" b="1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Context</a:t>
            </a:r>
          </a:p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Object detection for pharmacy automation</a:t>
            </a:r>
          </a:p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Reduce human error in management</a:t>
            </a:r>
          </a:p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Improves operational efficiency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88992" y="2393788"/>
            <a:ext cx="7162225" cy="2567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3999" b="1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Challenges</a:t>
            </a:r>
          </a:p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Similar drug box shapes &amp; sizes, packaging colors</a:t>
            </a:r>
          </a:p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Different angles</a:t>
            </a:r>
          </a:p>
        </p:txBody>
      </p:sp>
      <p:sp>
        <p:nvSpPr>
          <p:cNvPr id="19" name="Freeform 19"/>
          <p:cNvSpPr/>
          <p:nvPr/>
        </p:nvSpPr>
        <p:spPr>
          <a:xfrm>
            <a:off x="9365209" y="5188985"/>
            <a:ext cx="647567" cy="412823"/>
          </a:xfrm>
          <a:custGeom>
            <a:avLst/>
            <a:gdLst/>
            <a:ahLst/>
            <a:cxnLst/>
            <a:rect l="l" t="t" r="r" b="b"/>
            <a:pathLst>
              <a:path w="647567" h="412823">
                <a:moveTo>
                  <a:pt x="0" y="0"/>
                </a:moveTo>
                <a:lnTo>
                  <a:pt x="647566" y="0"/>
                </a:lnTo>
                <a:lnTo>
                  <a:pt x="647566" y="412823"/>
                </a:lnTo>
                <a:lnTo>
                  <a:pt x="0" y="4128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t="-13" b="-16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0374725" y="5018878"/>
            <a:ext cx="7162225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2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Difficulty in differentiating drug classes</a:t>
            </a:r>
          </a:p>
        </p:txBody>
      </p:sp>
      <p:sp>
        <p:nvSpPr>
          <p:cNvPr id="21" name="Freeform 21"/>
          <p:cNvSpPr/>
          <p:nvPr/>
        </p:nvSpPr>
        <p:spPr>
          <a:xfrm>
            <a:off x="1113778" y="7597590"/>
            <a:ext cx="647567" cy="412823"/>
          </a:xfrm>
          <a:custGeom>
            <a:avLst/>
            <a:gdLst/>
            <a:ahLst/>
            <a:cxnLst/>
            <a:rect l="l" t="t" r="r" b="b"/>
            <a:pathLst>
              <a:path w="647567" h="412823">
                <a:moveTo>
                  <a:pt x="0" y="0"/>
                </a:moveTo>
                <a:lnTo>
                  <a:pt x="647567" y="0"/>
                </a:lnTo>
                <a:lnTo>
                  <a:pt x="647567" y="412823"/>
                </a:lnTo>
                <a:lnTo>
                  <a:pt x="0" y="4128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t="-13" b="-16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2475720" y="7380139"/>
            <a:ext cx="4556487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3999" b="1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Proposed Approach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304088" y="6809389"/>
            <a:ext cx="9602912" cy="1540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81" lvl="1" indent="-345440" algn="l">
              <a:lnSpc>
                <a:spcPts val="8000"/>
              </a:lnSpc>
              <a:buAutoNum type="arabicPeriod"/>
            </a:pPr>
            <a:r>
              <a:rPr lang="en-US" sz="3200" b="1" dirty="0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RetinaNet</a:t>
            </a:r>
            <a:r>
              <a:rPr lang="en-US" sz="3200" b="1" dirty="0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 + </a:t>
            </a:r>
            <a:r>
              <a:rPr lang="en-US" sz="3200" b="1" dirty="0" err="1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ConvNeXt</a:t>
            </a:r>
            <a:r>
              <a:rPr lang="en-US" sz="3200" b="1" dirty="0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-Tiny</a:t>
            </a:r>
          </a:p>
          <a:p>
            <a:pPr marL="690881" lvl="1" indent="-345440" algn="l">
              <a:lnSpc>
                <a:spcPts val="4480"/>
              </a:lnSpc>
              <a:spcBef>
                <a:spcPct val="0"/>
              </a:spcBef>
              <a:buAutoNum type="arabicPeriod"/>
            </a:pPr>
            <a:r>
              <a:rPr lang="en-US" sz="320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Fully Convolutional One-Stage + </a:t>
            </a:r>
            <a:r>
              <a:rPr lang="en-US" sz="3200" dirty="0" err="1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ConvNeXt</a:t>
            </a:r>
            <a:r>
              <a:rPr lang="en-US" sz="320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-Small</a:t>
            </a:r>
          </a:p>
        </p:txBody>
      </p:sp>
      <p:sp>
        <p:nvSpPr>
          <p:cNvPr id="24" name="Freeform 24"/>
          <p:cNvSpPr/>
          <p:nvPr/>
        </p:nvSpPr>
        <p:spPr>
          <a:xfrm>
            <a:off x="7746582" y="7248289"/>
            <a:ext cx="240800" cy="1189125"/>
          </a:xfrm>
          <a:custGeom>
            <a:avLst/>
            <a:gdLst/>
            <a:ahLst/>
            <a:cxnLst/>
            <a:rect l="l" t="t" r="r" b="b"/>
            <a:pathLst>
              <a:path w="240800" h="1189125">
                <a:moveTo>
                  <a:pt x="0" y="0"/>
                </a:moveTo>
                <a:lnTo>
                  <a:pt x="240800" y="0"/>
                </a:lnTo>
                <a:lnTo>
                  <a:pt x="240800" y="1189125"/>
                </a:lnTo>
                <a:lnTo>
                  <a:pt x="0" y="11891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3386" r="-3386"/>
            </a:stretch>
          </a:blipFill>
        </p:spPr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18441" y="2091414"/>
            <a:ext cx="5810093" cy="6104173"/>
            <a:chOff x="0" y="0"/>
            <a:chExt cx="1530230" cy="16076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30230" cy="1607683"/>
            </a:xfrm>
            <a:custGeom>
              <a:avLst/>
              <a:gdLst/>
              <a:ahLst/>
              <a:cxnLst/>
              <a:rect l="l" t="t" r="r" b="b"/>
              <a:pathLst>
                <a:path w="1530230" h="1607683">
                  <a:moveTo>
                    <a:pt x="0" y="0"/>
                  </a:moveTo>
                  <a:lnTo>
                    <a:pt x="1530230" y="0"/>
                  </a:lnTo>
                  <a:lnTo>
                    <a:pt x="1530230" y="1607683"/>
                  </a:lnTo>
                  <a:lnTo>
                    <a:pt x="0" y="1607683"/>
                  </a:lnTo>
                  <a:close/>
                </a:path>
              </a:pathLst>
            </a:custGeom>
            <a:solidFill>
              <a:srgbClr val="DCF1F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530230" cy="16457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rot="-8285520">
            <a:off x="14724812" y="1645482"/>
            <a:ext cx="2255577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rot="7437660">
            <a:off x="16047863" y="1161640"/>
            <a:ext cx="2887637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16125844" y="1766878"/>
            <a:ext cx="1162802" cy="1164241"/>
          </a:xfrm>
          <a:custGeom>
            <a:avLst/>
            <a:gdLst/>
            <a:ahLst/>
            <a:cxnLst/>
            <a:rect l="l" t="t" r="r" b="b"/>
            <a:pathLst>
              <a:path w="1162802" h="1164241">
                <a:moveTo>
                  <a:pt x="0" y="0"/>
                </a:moveTo>
                <a:lnTo>
                  <a:pt x="1162803" y="0"/>
                </a:lnTo>
                <a:lnTo>
                  <a:pt x="1162803" y="1164241"/>
                </a:lnTo>
                <a:lnTo>
                  <a:pt x="0" y="11642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703123" y="623516"/>
            <a:ext cx="583197" cy="584645"/>
          </a:xfrm>
          <a:custGeom>
            <a:avLst/>
            <a:gdLst/>
            <a:ahLst/>
            <a:cxnLst/>
            <a:rect l="l" t="t" r="r" b="b"/>
            <a:pathLst>
              <a:path w="583197" h="584645">
                <a:moveTo>
                  <a:pt x="0" y="0"/>
                </a:moveTo>
                <a:lnTo>
                  <a:pt x="583197" y="0"/>
                </a:lnTo>
                <a:lnTo>
                  <a:pt x="583197" y="584645"/>
                </a:lnTo>
                <a:lnTo>
                  <a:pt x="0" y="5846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028700" y="427324"/>
            <a:ext cx="11624956" cy="1202752"/>
            <a:chOff x="0" y="0"/>
            <a:chExt cx="19141937" cy="19804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141937" cy="1980484"/>
            </a:xfrm>
            <a:custGeom>
              <a:avLst/>
              <a:gdLst/>
              <a:ahLst/>
              <a:cxnLst/>
              <a:rect l="l" t="t" r="r" b="b"/>
              <a:pathLst>
                <a:path w="19141937" h="1980484">
                  <a:moveTo>
                    <a:pt x="0" y="0"/>
                  </a:moveTo>
                  <a:lnTo>
                    <a:pt x="19141937" y="0"/>
                  </a:lnTo>
                  <a:lnTo>
                    <a:pt x="19141937" y="1980484"/>
                  </a:lnTo>
                  <a:lnTo>
                    <a:pt x="0" y="19804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51703" r="45996" b="-51703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19141937" cy="199953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3D3D3D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02. Data Overview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16976884" y="333356"/>
            <a:ext cx="349920" cy="53283"/>
          </a:xfrm>
          <a:custGeom>
            <a:avLst/>
            <a:gdLst/>
            <a:ahLst/>
            <a:cxnLst/>
            <a:rect l="l" t="t" r="r" b="b"/>
            <a:pathLst>
              <a:path w="349920" h="53283">
                <a:moveTo>
                  <a:pt x="0" y="0"/>
                </a:moveTo>
                <a:lnTo>
                  <a:pt x="349920" y="0"/>
                </a:lnTo>
                <a:lnTo>
                  <a:pt x="349920" y="53283"/>
                </a:lnTo>
                <a:lnTo>
                  <a:pt x="0" y="532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354821" y="2091414"/>
            <a:ext cx="5684871" cy="6104173"/>
            <a:chOff x="0" y="0"/>
            <a:chExt cx="1497250" cy="160768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97250" cy="1607683"/>
            </a:xfrm>
            <a:custGeom>
              <a:avLst/>
              <a:gdLst/>
              <a:ahLst/>
              <a:cxnLst/>
              <a:rect l="l" t="t" r="r" b="b"/>
              <a:pathLst>
                <a:path w="1497250" h="1607683">
                  <a:moveTo>
                    <a:pt x="0" y="0"/>
                  </a:moveTo>
                  <a:lnTo>
                    <a:pt x="1497250" y="0"/>
                  </a:lnTo>
                  <a:lnTo>
                    <a:pt x="1497250" y="1607683"/>
                  </a:lnTo>
                  <a:lnTo>
                    <a:pt x="0" y="1607683"/>
                  </a:lnTo>
                  <a:close/>
                </a:path>
              </a:pathLst>
            </a:custGeom>
            <a:solidFill>
              <a:srgbClr val="DCF1F4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497250" cy="16457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334967" y="2091414"/>
            <a:ext cx="5980146" cy="6104173"/>
            <a:chOff x="0" y="0"/>
            <a:chExt cx="1575018" cy="160768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575018" cy="1607683"/>
            </a:xfrm>
            <a:custGeom>
              <a:avLst/>
              <a:gdLst/>
              <a:ahLst/>
              <a:cxnLst/>
              <a:rect l="l" t="t" r="r" b="b"/>
              <a:pathLst>
                <a:path w="1575018" h="1607683">
                  <a:moveTo>
                    <a:pt x="0" y="0"/>
                  </a:moveTo>
                  <a:lnTo>
                    <a:pt x="1575018" y="0"/>
                  </a:lnTo>
                  <a:lnTo>
                    <a:pt x="1575018" y="1607683"/>
                  </a:lnTo>
                  <a:lnTo>
                    <a:pt x="0" y="1607683"/>
                  </a:lnTo>
                  <a:close/>
                </a:path>
              </a:pathLst>
            </a:custGeom>
            <a:solidFill>
              <a:srgbClr val="DCF1F4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575018" cy="16457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2315113" y="2893019"/>
            <a:ext cx="5513421" cy="480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hametanMerhem: Topical ointment</a:t>
            </a: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majezik: Pain reliever</a:t>
            </a: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metpamid: Anti-nausea medication</a:t>
            </a: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parol: Pain reliever</a:t>
            </a: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terbisil: Antifungal medication</a:t>
            </a: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unisom: Sleep aid medication</a:t>
            </a:r>
          </a:p>
        </p:txBody>
      </p:sp>
      <p:sp>
        <p:nvSpPr>
          <p:cNvPr id="20" name="AutoShape 20"/>
          <p:cNvSpPr/>
          <p:nvPr/>
        </p:nvSpPr>
        <p:spPr>
          <a:xfrm flipV="1">
            <a:off x="12277013" y="2969219"/>
            <a:ext cx="0" cy="5040332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Freeform 21"/>
          <p:cNvSpPr/>
          <p:nvPr/>
        </p:nvSpPr>
        <p:spPr>
          <a:xfrm>
            <a:off x="4106355" y="8195586"/>
            <a:ext cx="10075289" cy="1930761"/>
          </a:xfrm>
          <a:custGeom>
            <a:avLst/>
            <a:gdLst/>
            <a:ahLst/>
            <a:cxnLst/>
            <a:rect l="l" t="t" r="r" b="b"/>
            <a:pathLst>
              <a:path w="10075289" h="1930761">
                <a:moveTo>
                  <a:pt x="0" y="0"/>
                </a:moveTo>
                <a:lnTo>
                  <a:pt x="10075290" y="0"/>
                </a:lnTo>
                <a:lnTo>
                  <a:pt x="10075290" y="1930761"/>
                </a:lnTo>
                <a:lnTo>
                  <a:pt x="0" y="193076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93514" b="-154372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26271" y="2123101"/>
            <a:ext cx="5513421" cy="588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3999" b="1" dirty="0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Dataset Overview</a:t>
            </a:r>
          </a:p>
          <a:p>
            <a:pPr marL="647700" lvl="1" indent="-323850" algn="l">
              <a:lnSpc>
                <a:spcPts val="45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Dataset: Turkish Pharmaceutical Drug Dataset</a:t>
            </a:r>
          </a:p>
          <a:p>
            <a:pPr marL="647700" lvl="1" indent="-323850" algn="l">
              <a:lnSpc>
                <a:spcPts val="45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Task: Drug box object detection</a:t>
            </a:r>
          </a:p>
          <a:p>
            <a:pPr marL="647700" lvl="1" indent="-323850" algn="l">
              <a:lnSpc>
                <a:spcPts val="45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Format: YOLO-compatible annotations</a:t>
            </a:r>
          </a:p>
          <a:p>
            <a:pPr marL="647700" lvl="1" indent="-323850" algn="l">
              <a:lnSpc>
                <a:spcPts val="45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Total images: 14,932</a:t>
            </a:r>
          </a:p>
          <a:p>
            <a:pPr marL="647700" lvl="1" indent="-323850" algn="l">
              <a:lnSpc>
                <a:spcPts val="45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Image size: 640 × 640 (.jpg)</a:t>
            </a:r>
          </a:p>
          <a:p>
            <a:pPr marL="647700" lvl="1" indent="-323850" algn="l">
              <a:lnSpc>
                <a:spcPts val="45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Classes: 12 drug categories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39612" y="2123101"/>
            <a:ext cx="5578829" cy="588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3999" b="1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Drug Classes</a:t>
            </a:r>
          </a:p>
          <a:p>
            <a:pPr marL="647700" lvl="1" indent="-323850" algn="l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aferin: Decongestant medication</a:t>
            </a:r>
          </a:p>
          <a:p>
            <a:pPr marL="647700" lvl="1" indent="-323850" algn="l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apranax: Anti-inflammatory drug</a:t>
            </a:r>
          </a:p>
          <a:p>
            <a:pPr marL="647700" lvl="1" indent="-323850" algn="l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arveles: Pain reliever</a:t>
            </a:r>
          </a:p>
          <a:p>
            <a:pPr marL="647700" lvl="1" indent="-323850" algn="l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aspirin: Common pain reliever and blood thinner</a:t>
            </a:r>
          </a:p>
          <a:p>
            <a:pPr marL="647700" lvl="1" indent="-323850" algn="l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dolorex: Pain medication</a:t>
            </a:r>
          </a:p>
          <a:p>
            <a:pPr marL="647700" lvl="1" indent="-323850" algn="l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hametanKrem: Topical cream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8285520">
            <a:off x="14724812" y="1645482"/>
            <a:ext cx="2255577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7437660">
            <a:off x="16047863" y="1161640"/>
            <a:ext cx="2887637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6125844" y="1766878"/>
            <a:ext cx="1162802" cy="1164241"/>
          </a:xfrm>
          <a:custGeom>
            <a:avLst/>
            <a:gdLst/>
            <a:ahLst/>
            <a:cxnLst/>
            <a:rect l="l" t="t" r="r" b="b"/>
            <a:pathLst>
              <a:path w="1162802" h="1164241">
                <a:moveTo>
                  <a:pt x="0" y="0"/>
                </a:moveTo>
                <a:lnTo>
                  <a:pt x="1162803" y="0"/>
                </a:lnTo>
                <a:lnTo>
                  <a:pt x="1162803" y="1164241"/>
                </a:lnTo>
                <a:lnTo>
                  <a:pt x="0" y="11642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03123" y="623516"/>
            <a:ext cx="583197" cy="584645"/>
          </a:xfrm>
          <a:custGeom>
            <a:avLst/>
            <a:gdLst/>
            <a:ahLst/>
            <a:cxnLst/>
            <a:rect l="l" t="t" r="r" b="b"/>
            <a:pathLst>
              <a:path w="583197" h="584645">
                <a:moveTo>
                  <a:pt x="0" y="0"/>
                </a:moveTo>
                <a:lnTo>
                  <a:pt x="583197" y="0"/>
                </a:lnTo>
                <a:lnTo>
                  <a:pt x="583197" y="584645"/>
                </a:lnTo>
                <a:lnTo>
                  <a:pt x="0" y="5846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28700" y="427324"/>
            <a:ext cx="11624956" cy="1202752"/>
            <a:chOff x="0" y="0"/>
            <a:chExt cx="19141937" cy="19804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141937" cy="1980484"/>
            </a:xfrm>
            <a:custGeom>
              <a:avLst/>
              <a:gdLst/>
              <a:ahLst/>
              <a:cxnLst/>
              <a:rect l="l" t="t" r="r" b="b"/>
              <a:pathLst>
                <a:path w="19141937" h="1980484">
                  <a:moveTo>
                    <a:pt x="0" y="0"/>
                  </a:moveTo>
                  <a:lnTo>
                    <a:pt x="19141937" y="0"/>
                  </a:lnTo>
                  <a:lnTo>
                    <a:pt x="19141937" y="1980484"/>
                  </a:lnTo>
                  <a:lnTo>
                    <a:pt x="0" y="19804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51703" r="45996" b="-51703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9141937" cy="199953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7200"/>
                </a:lnSpc>
              </a:pPr>
              <a:r>
                <a:rPr lang="en-US" sz="6000" b="1" dirty="0">
                  <a:solidFill>
                    <a:srgbClr val="000000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03. Methodology &amp; Implementation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16976884" y="333356"/>
            <a:ext cx="349920" cy="53283"/>
          </a:xfrm>
          <a:custGeom>
            <a:avLst/>
            <a:gdLst/>
            <a:ahLst/>
            <a:cxnLst/>
            <a:rect l="l" t="t" r="r" b="b"/>
            <a:pathLst>
              <a:path w="349920" h="53283">
                <a:moveTo>
                  <a:pt x="0" y="0"/>
                </a:moveTo>
                <a:lnTo>
                  <a:pt x="349920" y="0"/>
                </a:lnTo>
                <a:lnTo>
                  <a:pt x="349920" y="53283"/>
                </a:lnTo>
                <a:lnTo>
                  <a:pt x="0" y="532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612906" y="1630076"/>
            <a:ext cx="2772528" cy="2525521"/>
          </a:xfrm>
          <a:custGeom>
            <a:avLst/>
            <a:gdLst/>
            <a:ahLst/>
            <a:cxnLst/>
            <a:rect l="l" t="t" r="r" b="b"/>
            <a:pathLst>
              <a:path w="2772528" h="2525521">
                <a:moveTo>
                  <a:pt x="0" y="0"/>
                </a:moveTo>
                <a:lnTo>
                  <a:pt x="2772528" y="0"/>
                </a:lnTo>
                <a:lnTo>
                  <a:pt x="2772528" y="2525521"/>
                </a:lnTo>
                <a:lnTo>
                  <a:pt x="0" y="252552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32" r="-33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350875" y="1668358"/>
            <a:ext cx="2772528" cy="2525521"/>
          </a:xfrm>
          <a:custGeom>
            <a:avLst/>
            <a:gdLst/>
            <a:ahLst/>
            <a:cxnLst/>
            <a:rect l="l" t="t" r="r" b="b"/>
            <a:pathLst>
              <a:path w="2772528" h="2525521">
                <a:moveTo>
                  <a:pt x="0" y="0"/>
                </a:moveTo>
                <a:lnTo>
                  <a:pt x="2772528" y="0"/>
                </a:lnTo>
                <a:lnTo>
                  <a:pt x="2772528" y="2525521"/>
                </a:lnTo>
                <a:lnTo>
                  <a:pt x="0" y="252552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32" r="-33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28700" y="1668358"/>
            <a:ext cx="2772528" cy="2525521"/>
          </a:xfrm>
          <a:custGeom>
            <a:avLst/>
            <a:gdLst/>
            <a:ahLst/>
            <a:cxnLst/>
            <a:rect l="l" t="t" r="r" b="b"/>
            <a:pathLst>
              <a:path w="2772528" h="2525521">
                <a:moveTo>
                  <a:pt x="0" y="0"/>
                </a:moveTo>
                <a:lnTo>
                  <a:pt x="2772528" y="0"/>
                </a:lnTo>
                <a:lnTo>
                  <a:pt x="2772528" y="2525521"/>
                </a:lnTo>
                <a:lnTo>
                  <a:pt x="0" y="252552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32" r="-33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728838" y="6431130"/>
            <a:ext cx="3313191" cy="903597"/>
          </a:xfrm>
          <a:custGeom>
            <a:avLst/>
            <a:gdLst/>
            <a:ahLst/>
            <a:cxnLst/>
            <a:rect l="l" t="t" r="r" b="b"/>
            <a:pathLst>
              <a:path w="3313191" h="903597">
                <a:moveTo>
                  <a:pt x="0" y="0"/>
                </a:moveTo>
                <a:lnTo>
                  <a:pt x="3313191" y="0"/>
                </a:lnTo>
                <a:lnTo>
                  <a:pt x="3313191" y="903597"/>
                </a:lnTo>
                <a:lnTo>
                  <a:pt x="0" y="90359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194106" y="4570245"/>
            <a:ext cx="15918837" cy="1146509"/>
          </a:xfrm>
          <a:custGeom>
            <a:avLst/>
            <a:gdLst/>
            <a:ahLst/>
            <a:cxnLst/>
            <a:rect l="l" t="t" r="r" b="b"/>
            <a:pathLst>
              <a:path w="15918837" h="1146509">
                <a:moveTo>
                  <a:pt x="0" y="0"/>
                </a:moveTo>
                <a:lnTo>
                  <a:pt x="15918838" y="0"/>
                </a:lnTo>
                <a:lnTo>
                  <a:pt x="15918838" y="1146510"/>
                </a:lnTo>
                <a:lnTo>
                  <a:pt x="0" y="114651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98922" y="2244223"/>
            <a:ext cx="6676435" cy="863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Data preprocessing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6383687"/>
            <a:ext cx="6545155" cy="217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3999" b="1" dirty="0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Input standardization</a:t>
            </a:r>
          </a:p>
          <a:p>
            <a:pPr marL="647700" lvl="1" indent="-323850" algn="l">
              <a:lnSpc>
                <a:spcPts val="60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Convert images → RGB (3 channels)</a:t>
            </a:r>
          </a:p>
          <a:p>
            <a:pPr marL="647700" lvl="1" indent="-323850" algn="l">
              <a:lnSpc>
                <a:spcPts val="60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Scale pixels [0–255] → [0–1]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714145" y="6383687"/>
            <a:ext cx="6545155" cy="217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3999" b="1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Annotation standardization</a:t>
            </a:r>
          </a:p>
          <a:p>
            <a:pPr marL="647700" lvl="1" indent="-323850" algn="l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YOLO bbox + polygon labels</a:t>
            </a:r>
          </a:p>
          <a:p>
            <a:pPr marL="647700" lvl="1" indent="-323850" algn="l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Convert all → bounding boxes</a:t>
            </a:r>
          </a:p>
        </p:txBody>
      </p:sp>
      <p:sp>
        <p:nvSpPr>
          <p:cNvPr id="19" name="Freeform 19"/>
          <p:cNvSpPr/>
          <p:nvPr/>
        </p:nvSpPr>
        <p:spPr>
          <a:xfrm>
            <a:off x="4793693" y="6507512"/>
            <a:ext cx="2347658" cy="640270"/>
          </a:xfrm>
          <a:custGeom>
            <a:avLst/>
            <a:gdLst/>
            <a:ahLst/>
            <a:cxnLst/>
            <a:rect l="l" t="t" r="r" b="b"/>
            <a:pathLst>
              <a:path w="2347658" h="640270">
                <a:moveTo>
                  <a:pt x="0" y="0"/>
                </a:moveTo>
                <a:lnTo>
                  <a:pt x="2347658" y="0"/>
                </a:lnTo>
                <a:lnTo>
                  <a:pt x="2347658" y="640271"/>
                </a:lnTo>
                <a:lnTo>
                  <a:pt x="0" y="64027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028700" y="6383687"/>
            <a:ext cx="6545155" cy="2933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3999" b="1" dirty="0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Data cleaning</a:t>
            </a:r>
          </a:p>
          <a:p>
            <a:pPr marL="647700" lvl="1" indent="-323850" algn="l">
              <a:lnSpc>
                <a:spcPts val="60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Clip boxes to image boundary</a:t>
            </a:r>
          </a:p>
          <a:p>
            <a:pPr marL="647700" lvl="1" indent="-323850" algn="l">
              <a:lnSpc>
                <a:spcPts val="60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Remove invalid / tiny boxes</a:t>
            </a:r>
          </a:p>
          <a:p>
            <a:pPr marL="647700" lvl="1" indent="-323850" algn="l">
              <a:lnSpc>
                <a:spcPts val="60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Validate class IDs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400244" y="6337851"/>
            <a:ext cx="10195061" cy="2933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3999" b="1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Data Augmentation + Normalization</a:t>
            </a:r>
          </a:p>
          <a:p>
            <a:pPr marL="647700" lvl="1" indent="-323850" algn="l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Resize: 640 × 640 pixels</a:t>
            </a:r>
          </a:p>
          <a:p>
            <a:pPr marL="647700" lvl="1" indent="-323850" algn="l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Geometric augmentation: Random horizontal flip (p = 0.5)</a:t>
            </a:r>
          </a:p>
          <a:p>
            <a:pPr marL="647700" lvl="1" indent="-323850" algn="l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Normalization: ImageNet mean &amp; standard deviation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0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8285520">
            <a:off x="14724812" y="1645482"/>
            <a:ext cx="2255577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7437660">
            <a:off x="16047863" y="1161640"/>
            <a:ext cx="2887637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6125844" y="1766878"/>
            <a:ext cx="1162802" cy="1164241"/>
          </a:xfrm>
          <a:custGeom>
            <a:avLst/>
            <a:gdLst/>
            <a:ahLst/>
            <a:cxnLst/>
            <a:rect l="l" t="t" r="r" b="b"/>
            <a:pathLst>
              <a:path w="1162802" h="1164241">
                <a:moveTo>
                  <a:pt x="0" y="0"/>
                </a:moveTo>
                <a:lnTo>
                  <a:pt x="1162803" y="0"/>
                </a:lnTo>
                <a:lnTo>
                  <a:pt x="1162803" y="1164241"/>
                </a:lnTo>
                <a:lnTo>
                  <a:pt x="0" y="11642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03123" y="623516"/>
            <a:ext cx="583197" cy="584645"/>
          </a:xfrm>
          <a:custGeom>
            <a:avLst/>
            <a:gdLst/>
            <a:ahLst/>
            <a:cxnLst/>
            <a:rect l="l" t="t" r="r" b="b"/>
            <a:pathLst>
              <a:path w="583197" h="584645">
                <a:moveTo>
                  <a:pt x="0" y="0"/>
                </a:moveTo>
                <a:lnTo>
                  <a:pt x="583197" y="0"/>
                </a:lnTo>
                <a:lnTo>
                  <a:pt x="583197" y="584645"/>
                </a:lnTo>
                <a:lnTo>
                  <a:pt x="0" y="5846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28700" y="427324"/>
            <a:ext cx="11624956" cy="1202752"/>
            <a:chOff x="0" y="0"/>
            <a:chExt cx="19141937" cy="19804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141937" cy="1980484"/>
            </a:xfrm>
            <a:custGeom>
              <a:avLst/>
              <a:gdLst/>
              <a:ahLst/>
              <a:cxnLst/>
              <a:rect l="l" t="t" r="r" b="b"/>
              <a:pathLst>
                <a:path w="19141937" h="1980484">
                  <a:moveTo>
                    <a:pt x="0" y="0"/>
                  </a:moveTo>
                  <a:lnTo>
                    <a:pt x="19141937" y="0"/>
                  </a:lnTo>
                  <a:lnTo>
                    <a:pt x="19141937" y="1980484"/>
                  </a:lnTo>
                  <a:lnTo>
                    <a:pt x="0" y="19804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51703" r="45996" b="-51703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9141937" cy="199953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000000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03. Methodology &amp; Implementation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16976884" y="333356"/>
            <a:ext cx="349920" cy="53283"/>
          </a:xfrm>
          <a:custGeom>
            <a:avLst/>
            <a:gdLst/>
            <a:ahLst/>
            <a:cxnLst/>
            <a:rect l="l" t="t" r="r" b="b"/>
            <a:pathLst>
              <a:path w="349920" h="53283">
                <a:moveTo>
                  <a:pt x="0" y="0"/>
                </a:moveTo>
                <a:lnTo>
                  <a:pt x="349920" y="0"/>
                </a:lnTo>
                <a:lnTo>
                  <a:pt x="349920" y="53283"/>
                </a:lnTo>
                <a:lnTo>
                  <a:pt x="0" y="532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612906" y="1630076"/>
            <a:ext cx="2772528" cy="2525521"/>
          </a:xfrm>
          <a:custGeom>
            <a:avLst/>
            <a:gdLst/>
            <a:ahLst/>
            <a:cxnLst/>
            <a:rect l="l" t="t" r="r" b="b"/>
            <a:pathLst>
              <a:path w="2772528" h="2525521">
                <a:moveTo>
                  <a:pt x="0" y="0"/>
                </a:moveTo>
                <a:lnTo>
                  <a:pt x="2772528" y="0"/>
                </a:lnTo>
                <a:lnTo>
                  <a:pt x="2772528" y="2525521"/>
                </a:lnTo>
                <a:lnTo>
                  <a:pt x="0" y="252552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32" r="-33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350875" y="1668358"/>
            <a:ext cx="2772528" cy="2525521"/>
          </a:xfrm>
          <a:custGeom>
            <a:avLst/>
            <a:gdLst/>
            <a:ahLst/>
            <a:cxnLst/>
            <a:rect l="l" t="t" r="r" b="b"/>
            <a:pathLst>
              <a:path w="2772528" h="2525521">
                <a:moveTo>
                  <a:pt x="0" y="0"/>
                </a:moveTo>
                <a:lnTo>
                  <a:pt x="2772528" y="0"/>
                </a:lnTo>
                <a:lnTo>
                  <a:pt x="2772528" y="2525521"/>
                </a:lnTo>
                <a:lnTo>
                  <a:pt x="0" y="252552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32" r="-33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28700" y="1668358"/>
            <a:ext cx="2772528" cy="2525521"/>
          </a:xfrm>
          <a:custGeom>
            <a:avLst/>
            <a:gdLst/>
            <a:ahLst/>
            <a:cxnLst/>
            <a:rect l="l" t="t" r="r" b="b"/>
            <a:pathLst>
              <a:path w="2772528" h="2525521">
                <a:moveTo>
                  <a:pt x="0" y="0"/>
                </a:moveTo>
                <a:lnTo>
                  <a:pt x="2772528" y="0"/>
                </a:lnTo>
                <a:lnTo>
                  <a:pt x="2772528" y="2525521"/>
                </a:lnTo>
                <a:lnTo>
                  <a:pt x="0" y="252552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32" r="-33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356734" y="4022555"/>
            <a:ext cx="9902566" cy="2241890"/>
          </a:xfrm>
          <a:custGeom>
            <a:avLst/>
            <a:gdLst/>
            <a:ahLst/>
            <a:cxnLst/>
            <a:rect l="l" t="t" r="r" b="b"/>
            <a:pathLst>
              <a:path w="9902566" h="2241890">
                <a:moveTo>
                  <a:pt x="0" y="0"/>
                </a:moveTo>
                <a:lnTo>
                  <a:pt x="9902566" y="0"/>
                </a:lnTo>
                <a:lnTo>
                  <a:pt x="9902566" y="2241890"/>
                </a:lnTo>
                <a:lnTo>
                  <a:pt x="0" y="224189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98922" y="1964801"/>
            <a:ext cx="6676435" cy="1422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Architecture</a:t>
            </a:r>
          </a:p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(</a:t>
            </a:r>
            <a:r>
              <a:rPr lang="en-US" sz="30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RetinaNet</a:t>
            </a:r>
            <a:r>
              <a:rPr lang="en-US" sz="30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–</a:t>
            </a:r>
            <a:r>
              <a:rPr lang="en-US" sz="30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ConvNeXt</a:t>
            </a:r>
            <a:r>
              <a:rPr lang="en-US" sz="30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3907947"/>
            <a:ext cx="7046657" cy="52768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700" lvl="1" indent="-323850" algn="l">
              <a:lnSpc>
                <a:spcPts val="60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b="1" dirty="0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Backbone:</a:t>
            </a:r>
          </a:p>
          <a:p>
            <a:pPr marL="1295400" lvl="2" indent="-431800" algn="l">
              <a:lnSpc>
                <a:spcPts val="60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dirty="0" err="1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ConvNeXt</a:t>
            </a:r>
            <a:r>
              <a:rPr lang="en-US" sz="300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-Tiny</a:t>
            </a:r>
          </a:p>
          <a:p>
            <a:pPr marL="1295400" lvl="2" indent="-431800" algn="l">
              <a:lnSpc>
                <a:spcPts val="60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Extract hierarchical features</a:t>
            </a:r>
          </a:p>
          <a:p>
            <a:pPr marL="647700" lvl="1" indent="-323850" algn="l">
              <a:lnSpc>
                <a:spcPts val="60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b="1" dirty="0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Neck:</a:t>
            </a:r>
            <a:r>
              <a:rPr lang="en-US" sz="300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Feature Pyramid Network (FPN)</a:t>
            </a:r>
          </a:p>
          <a:p>
            <a:pPr marL="647700" lvl="1" indent="-323850" algn="l">
              <a:lnSpc>
                <a:spcPts val="60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b="1" dirty="0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Detection heads:</a:t>
            </a:r>
          </a:p>
          <a:p>
            <a:pPr marL="1295400" lvl="2" indent="-431800" algn="l">
              <a:lnSpc>
                <a:spcPts val="60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Classification head</a:t>
            </a:r>
          </a:p>
          <a:p>
            <a:pPr marL="1295400" lvl="2" indent="-431800" algn="l">
              <a:lnSpc>
                <a:spcPts val="60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Bounding box regression head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76401" y="3897188"/>
            <a:ext cx="5680334" cy="52706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Anchor Generator</a:t>
            </a:r>
          </a:p>
          <a:p>
            <a:pPr marL="647700" lvl="1" indent="-323850" algn="l">
              <a:lnSpc>
                <a:spcPts val="60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Generate anchors: Multiple scales &amp; aspect ratios</a:t>
            </a:r>
          </a:p>
          <a:p>
            <a:pPr marL="647700" lvl="1" indent="-323850" algn="l">
              <a:lnSpc>
                <a:spcPts val="60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dirty="0" err="1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IoU</a:t>
            </a:r>
            <a:r>
              <a:rPr lang="en-US" sz="300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-based assignment:</a:t>
            </a:r>
          </a:p>
          <a:p>
            <a:pPr marL="1295400" lvl="2" indent="-431800" algn="l">
              <a:lnSpc>
                <a:spcPts val="60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Positive: </a:t>
            </a:r>
            <a:r>
              <a:rPr lang="en-US" sz="3000" dirty="0" err="1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IoU</a:t>
            </a:r>
            <a:r>
              <a:rPr lang="en-US" sz="300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≥ 0.5</a:t>
            </a:r>
          </a:p>
          <a:p>
            <a:pPr marL="1295400" lvl="2" indent="-431800" algn="l">
              <a:lnSpc>
                <a:spcPts val="60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Negative: </a:t>
            </a:r>
            <a:r>
              <a:rPr lang="en-US" sz="3000" dirty="0" err="1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IoU</a:t>
            </a:r>
            <a:r>
              <a:rPr lang="en-US" sz="300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&lt; 0.4</a:t>
            </a:r>
          </a:p>
          <a:p>
            <a:pPr marL="1295400" lvl="2" indent="-431800" algn="l">
              <a:lnSpc>
                <a:spcPts val="60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Ignore: 0.4 ≤ </a:t>
            </a:r>
            <a:r>
              <a:rPr lang="en-US" sz="3000" dirty="0" err="1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IoU</a:t>
            </a:r>
            <a:r>
              <a:rPr lang="en-US" sz="300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&lt; 0.5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76400" y="3879589"/>
            <a:ext cx="5799307" cy="52768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Training Losses</a:t>
            </a:r>
          </a:p>
          <a:p>
            <a:pPr marL="647700" lvl="1" indent="-323850" algn="l">
              <a:lnSpc>
                <a:spcPts val="60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Classification:</a:t>
            </a:r>
          </a:p>
          <a:p>
            <a:pPr marL="1295400" lvl="2" indent="-431800" algn="l">
              <a:lnSpc>
                <a:spcPts val="60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Focal Loss</a:t>
            </a:r>
          </a:p>
          <a:p>
            <a:pPr marL="1295400" lvl="2" indent="-431800" algn="l">
              <a:lnSpc>
                <a:spcPts val="60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Handles class imbalance</a:t>
            </a:r>
          </a:p>
          <a:p>
            <a:pPr marL="647700" lvl="1" indent="-323850" algn="l">
              <a:lnSpc>
                <a:spcPts val="60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Bounding box regression:</a:t>
            </a:r>
          </a:p>
          <a:p>
            <a:pPr marL="1295400" lvl="2" indent="-431800" algn="l">
              <a:lnSpc>
                <a:spcPts val="60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Smooth L1 Loss</a:t>
            </a:r>
          </a:p>
          <a:p>
            <a:pPr marL="1295400" lvl="2" indent="-431800" algn="l">
              <a:lnSpc>
                <a:spcPts val="60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Stabilizes box prediction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76400" y="3881167"/>
            <a:ext cx="7239000" cy="52706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Inference NMS</a:t>
            </a:r>
          </a:p>
          <a:p>
            <a:pPr marL="647700" lvl="1" indent="-323850" algn="l">
              <a:lnSpc>
                <a:spcPts val="60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Decode anchor </a:t>
            </a:r>
            <a:r>
              <a:rPr lang="en-US" sz="3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offsets </a:t>
            </a:r>
          </a:p>
          <a:p>
            <a:pPr marL="323850" lvl="1" algn="l">
              <a:lnSpc>
                <a:spcPts val="60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→ </a:t>
            </a:r>
            <a:r>
              <a:rPr lang="en-US" sz="300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bounding boxes</a:t>
            </a:r>
          </a:p>
          <a:p>
            <a:pPr marL="647700" lvl="1" indent="-323850" algn="l">
              <a:lnSpc>
                <a:spcPts val="60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Compute confidence scores</a:t>
            </a:r>
          </a:p>
          <a:p>
            <a:pPr marL="647700" lvl="1" indent="-323850" algn="l">
              <a:lnSpc>
                <a:spcPts val="60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Apply Non-Maximum Suppression (NMS)</a:t>
            </a:r>
          </a:p>
          <a:p>
            <a:pPr marL="1295400" lvl="2" indent="-431800" algn="l">
              <a:lnSpc>
                <a:spcPts val="60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Keep highest-score box</a:t>
            </a:r>
          </a:p>
          <a:p>
            <a:pPr marL="1295400" lvl="2" indent="-431800" algn="l">
              <a:lnSpc>
                <a:spcPts val="60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Remove overlapping boxes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7" grpId="1"/>
      <p:bldP spid="18" grpId="0"/>
      <p:bldP spid="18" grpId="1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8285520">
            <a:off x="14724812" y="1645482"/>
            <a:ext cx="2255577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7437660">
            <a:off x="16047863" y="1161640"/>
            <a:ext cx="2887637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6125844" y="1766878"/>
            <a:ext cx="1162802" cy="1164241"/>
          </a:xfrm>
          <a:custGeom>
            <a:avLst/>
            <a:gdLst/>
            <a:ahLst/>
            <a:cxnLst/>
            <a:rect l="l" t="t" r="r" b="b"/>
            <a:pathLst>
              <a:path w="1162802" h="1164241">
                <a:moveTo>
                  <a:pt x="0" y="0"/>
                </a:moveTo>
                <a:lnTo>
                  <a:pt x="1162803" y="0"/>
                </a:lnTo>
                <a:lnTo>
                  <a:pt x="1162803" y="1164241"/>
                </a:lnTo>
                <a:lnTo>
                  <a:pt x="0" y="11642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03123" y="623516"/>
            <a:ext cx="583197" cy="584645"/>
          </a:xfrm>
          <a:custGeom>
            <a:avLst/>
            <a:gdLst/>
            <a:ahLst/>
            <a:cxnLst/>
            <a:rect l="l" t="t" r="r" b="b"/>
            <a:pathLst>
              <a:path w="583197" h="584645">
                <a:moveTo>
                  <a:pt x="0" y="0"/>
                </a:moveTo>
                <a:lnTo>
                  <a:pt x="583197" y="0"/>
                </a:lnTo>
                <a:lnTo>
                  <a:pt x="583197" y="584645"/>
                </a:lnTo>
                <a:lnTo>
                  <a:pt x="0" y="5846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28700" y="427324"/>
            <a:ext cx="11624956" cy="1202752"/>
            <a:chOff x="0" y="0"/>
            <a:chExt cx="19141937" cy="19804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141937" cy="1980484"/>
            </a:xfrm>
            <a:custGeom>
              <a:avLst/>
              <a:gdLst/>
              <a:ahLst/>
              <a:cxnLst/>
              <a:rect l="l" t="t" r="r" b="b"/>
              <a:pathLst>
                <a:path w="19141937" h="1980484">
                  <a:moveTo>
                    <a:pt x="0" y="0"/>
                  </a:moveTo>
                  <a:lnTo>
                    <a:pt x="19141937" y="0"/>
                  </a:lnTo>
                  <a:lnTo>
                    <a:pt x="19141937" y="1980484"/>
                  </a:lnTo>
                  <a:lnTo>
                    <a:pt x="0" y="19804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51703" r="45996" b="-51703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9141937" cy="199953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3D3D3D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04. Evaluation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16976884" y="333356"/>
            <a:ext cx="349920" cy="53283"/>
          </a:xfrm>
          <a:custGeom>
            <a:avLst/>
            <a:gdLst/>
            <a:ahLst/>
            <a:cxnLst/>
            <a:rect l="l" t="t" r="r" b="b"/>
            <a:pathLst>
              <a:path w="349920" h="53283">
                <a:moveTo>
                  <a:pt x="0" y="0"/>
                </a:moveTo>
                <a:lnTo>
                  <a:pt x="349920" y="0"/>
                </a:lnTo>
                <a:lnTo>
                  <a:pt x="349920" y="53283"/>
                </a:lnTo>
                <a:lnTo>
                  <a:pt x="0" y="532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7225694" y="9210675"/>
            <a:ext cx="219612" cy="50321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8FBA6E06-741D-08CA-5169-7273166016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0048227"/>
                  </p:ext>
                </p:extLst>
              </p:nvPr>
            </p:nvGraphicFramePr>
            <p:xfrm>
              <a:off x="1029834" y="2082849"/>
              <a:ext cx="16230604" cy="6015312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4057651">
                      <a:extLst>
                        <a:ext uri="{9D8B030D-6E8A-4147-A177-3AD203B41FA5}">
                          <a16:colId xmlns:a16="http://schemas.microsoft.com/office/drawing/2014/main" val="3090602996"/>
                        </a:ext>
                      </a:extLst>
                    </a:gridCol>
                    <a:gridCol w="4057651">
                      <a:extLst>
                        <a:ext uri="{9D8B030D-6E8A-4147-A177-3AD203B41FA5}">
                          <a16:colId xmlns:a16="http://schemas.microsoft.com/office/drawing/2014/main" val="1399138011"/>
                        </a:ext>
                      </a:extLst>
                    </a:gridCol>
                    <a:gridCol w="4057651">
                      <a:extLst>
                        <a:ext uri="{9D8B030D-6E8A-4147-A177-3AD203B41FA5}">
                          <a16:colId xmlns:a16="http://schemas.microsoft.com/office/drawing/2014/main" val="3571371851"/>
                        </a:ext>
                      </a:extLst>
                    </a:gridCol>
                    <a:gridCol w="4057651">
                      <a:extLst>
                        <a:ext uri="{9D8B030D-6E8A-4147-A177-3AD203B41FA5}">
                          <a16:colId xmlns:a16="http://schemas.microsoft.com/office/drawing/2014/main" val="1109366947"/>
                        </a:ext>
                      </a:extLst>
                    </a:gridCol>
                  </a:tblGrid>
                  <a:tr h="2079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Metric</a:t>
                          </a:r>
                          <a:endParaRPr lang="vi-VN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RetinaNet</a:t>
                          </a:r>
                          <a:r>
                            <a:rPr lang="vi-VN" sz="2800" dirty="0"/>
                            <a:t> </a:t>
                          </a:r>
                        </a:p>
                        <a:p>
                          <a:pPr algn="ctr"/>
                          <a:r>
                            <a:rPr lang="vi-VN" sz="2800" dirty="0"/>
                            <a:t>+ </a:t>
                          </a:r>
                          <a:r>
                            <a:rPr lang="vi-VN" sz="2800" dirty="0" err="1"/>
                            <a:t>ConvNeXt-Tiny</a:t>
                          </a:r>
                          <a:endParaRPr lang="vi-VN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FCOS</a:t>
                          </a:r>
                        </a:p>
                        <a:p>
                          <a:pPr algn="ctr"/>
                          <a:r>
                            <a:rPr lang="vi-VN" sz="2800" dirty="0"/>
                            <a:t> + </a:t>
                          </a:r>
                          <a:r>
                            <a:rPr lang="vi-VN" sz="2800" dirty="0" err="1"/>
                            <a:t>ConvNeXt-Small</a:t>
                          </a:r>
                          <a:endParaRPr lang="vi-VN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vi-VN" sz="3200" dirty="0" smtClean="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</m:oMath>
                            </m:oMathPara>
                          </a14:m>
                          <a:endParaRPr lang="vi-VN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97620469"/>
                      </a:ext>
                    </a:extLst>
                  </a:tr>
                  <a:tr h="8450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Train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Loss</a:t>
                          </a:r>
                          <a:r>
                            <a:rPr lang="vi-VN" sz="2800" dirty="0"/>
                            <a:t> (</a:t>
                          </a:r>
                          <a:r>
                            <a:rPr lang="vi-VN" sz="2800" dirty="0" err="1"/>
                            <a:t>final</a:t>
                          </a:r>
                          <a:r>
                            <a:rPr lang="vi-VN" sz="2800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vi-VN" sz="2800" dirty="0" smtClean="0"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</m:oMath>
                          </a14:m>
                          <a:r>
                            <a:rPr lang="vi-VN" sz="2800" dirty="0"/>
                            <a:t>0.01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vi-VN" sz="2800" dirty="0" smtClean="0"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</m:oMath>
                          </a14:m>
                          <a:r>
                            <a:rPr lang="vi-VN" sz="2800" dirty="0"/>
                            <a:t>0.634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____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1902598"/>
                      </a:ext>
                    </a:extLst>
                  </a:tr>
                  <a:tr h="8450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Val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Loss</a:t>
                          </a:r>
                          <a:r>
                            <a:rPr lang="vi-VN" sz="2800" dirty="0"/>
                            <a:t> (</a:t>
                          </a:r>
                          <a:r>
                            <a:rPr lang="vi-VN" sz="2800" dirty="0" err="1"/>
                            <a:t>final</a:t>
                          </a:r>
                          <a:r>
                            <a:rPr lang="vi-VN" sz="2800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vi-VN" sz="2800" dirty="0" smtClean="0"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</m:oMath>
                          </a14:m>
                          <a:r>
                            <a:rPr lang="vi-VN" sz="2800" dirty="0"/>
                            <a:t>0.015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vi-VN" sz="2800" dirty="0" smtClean="0"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</m:oMath>
                          </a14:m>
                          <a:r>
                            <a:rPr lang="vi-VN" sz="2800" dirty="0"/>
                            <a:t>0.642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____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8989534"/>
                      </a:ext>
                    </a:extLst>
                  </a:tr>
                  <a:tr h="8450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mAP@0.50:0.95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dirty="0" smtClean="0">
                                    <a:latin typeface="Cambria Math" panose="02040503050406030204" pitchFamily="18" charset="0"/>
                                  </a:rPr>
                                  <m:t>≈</m:t>
                                </m:r>
                                <m:r>
                                  <a:rPr lang="vi-VN" sz="2800" b="0" dirty="0" smtClean="0">
                                    <a:latin typeface="Cambria Math" panose="02040503050406030204" pitchFamily="18" charset="0"/>
                                  </a:rPr>
                                  <m:t>0.87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0.4740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+0.396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89566890"/>
                      </a:ext>
                    </a:extLst>
                  </a:tr>
                  <a:tr h="8450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u="none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</a:t>
                          </a:r>
                          <a:r>
                            <a:rPr lang="en-US" sz="2800" u="none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AP@0.50</a:t>
                          </a:r>
                          <a:endParaRPr lang="vi-VN" sz="2800" u="none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vi-VN" sz="2800" dirty="0" smtClean="0"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</m:oMath>
                          </a14:m>
                          <a:r>
                            <a:rPr lang="vi-VN" sz="2800" dirty="0"/>
                            <a:t>0/99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0.8224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+0.168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99002123"/>
                      </a:ext>
                    </a:extLst>
                  </a:tr>
                  <a:tr h="8450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>
                              <a:solidFill>
                                <a:schemeClr val="tx1"/>
                              </a:solidFill>
                            </a:rPr>
                            <a:t>mAP@0.75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dirty="0" smtClean="0">
                                    <a:latin typeface="Cambria Math" panose="02040503050406030204" pitchFamily="18" charset="0"/>
                                  </a:rPr>
                                  <m:t>≈</m:t>
                                </m:r>
                                <m:r>
                                  <a:rPr lang="vi-VN" sz="2800" b="0" dirty="0" smtClean="0">
                                    <a:latin typeface="Cambria Math" panose="02040503050406030204" pitchFamily="18" charset="0"/>
                                  </a:rPr>
                                  <m:t>0.98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0.4948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+0.485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88498627"/>
                      </a:ext>
                    </a:extLst>
                  </a:tr>
                  <a:tr h="8450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AR</a:t>
                          </a:r>
                          <a:r>
                            <a:rPr lang="en-US" sz="2800" dirty="0"/>
                            <a:t>@0.50:0.95</a:t>
                          </a:r>
                          <a:endParaRPr lang="vi-VN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vi-VN" sz="2800" dirty="0" smtClean="0"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</m:oMath>
                          </a14:m>
                          <a:r>
                            <a:rPr lang="vi-VN" sz="2800" dirty="0"/>
                            <a:t>0.90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0.5561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+0.344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40529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8FBA6E06-741D-08CA-5169-7273166016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0048227"/>
                  </p:ext>
                </p:extLst>
              </p:nvPr>
            </p:nvGraphicFramePr>
            <p:xfrm>
              <a:off x="1029834" y="2082849"/>
              <a:ext cx="16230604" cy="6015312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4057651">
                      <a:extLst>
                        <a:ext uri="{9D8B030D-6E8A-4147-A177-3AD203B41FA5}">
                          <a16:colId xmlns:a16="http://schemas.microsoft.com/office/drawing/2014/main" val="3090602996"/>
                        </a:ext>
                      </a:extLst>
                    </a:gridCol>
                    <a:gridCol w="4057651">
                      <a:extLst>
                        <a:ext uri="{9D8B030D-6E8A-4147-A177-3AD203B41FA5}">
                          <a16:colId xmlns:a16="http://schemas.microsoft.com/office/drawing/2014/main" val="1399138011"/>
                        </a:ext>
                      </a:extLst>
                    </a:gridCol>
                    <a:gridCol w="4057651">
                      <a:extLst>
                        <a:ext uri="{9D8B030D-6E8A-4147-A177-3AD203B41FA5}">
                          <a16:colId xmlns:a16="http://schemas.microsoft.com/office/drawing/2014/main" val="3571371851"/>
                        </a:ext>
                      </a:extLst>
                    </a:gridCol>
                    <a:gridCol w="4057651">
                      <a:extLst>
                        <a:ext uri="{9D8B030D-6E8A-4147-A177-3AD203B41FA5}">
                          <a16:colId xmlns:a16="http://schemas.microsoft.com/office/drawing/2014/main" val="1109366947"/>
                        </a:ext>
                      </a:extLst>
                    </a:gridCol>
                  </a:tblGrid>
                  <a:tr h="944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Metric</a:t>
                          </a:r>
                          <a:endParaRPr lang="vi-VN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RetinaNet</a:t>
                          </a:r>
                          <a:r>
                            <a:rPr lang="vi-VN" sz="2800" dirty="0"/>
                            <a:t> </a:t>
                          </a:r>
                        </a:p>
                        <a:p>
                          <a:pPr algn="ctr"/>
                          <a:r>
                            <a:rPr lang="vi-VN" sz="2800" dirty="0"/>
                            <a:t>+ </a:t>
                          </a:r>
                          <a:r>
                            <a:rPr lang="vi-VN" sz="2800" dirty="0" err="1"/>
                            <a:t>ConvNeXt-Tiny</a:t>
                          </a:r>
                          <a:endParaRPr lang="vi-VN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FCOS</a:t>
                          </a:r>
                        </a:p>
                        <a:p>
                          <a:pPr algn="ctr"/>
                          <a:r>
                            <a:rPr lang="vi-VN" sz="2800" dirty="0"/>
                            <a:t> + </a:t>
                          </a:r>
                          <a:r>
                            <a:rPr lang="vi-VN" sz="2800" dirty="0" err="1"/>
                            <a:t>ConvNeXt-Small</a:t>
                          </a:r>
                          <a:endParaRPr lang="vi-VN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300000" t="-6452" r="-150" b="-5380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97620469"/>
                      </a:ext>
                    </a:extLst>
                  </a:tr>
                  <a:tr h="8450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Train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Loss</a:t>
                          </a:r>
                          <a:r>
                            <a:rPr lang="vi-VN" sz="2800" dirty="0"/>
                            <a:t> (</a:t>
                          </a:r>
                          <a:r>
                            <a:rPr lang="vi-VN" sz="2800" dirty="0" err="1"/>
                            <a:t>final</a:t>
                          </a:r>
                          <a:r>
                            <a:rPr lang="vi-VN" sz="2800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100000" t="-118705" r="-200150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200000" t="-118705" r="-100150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____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1902598"/>
                      </a:ext>
                    </a:extLst>
                  </a:tr>
                  <a:tr h="8450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Val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Loss</a:t>
                          </a:r>
                          <a:r>
                            <a:rPr lang="vi-VN" sz="2800" dirty="0"/>
                            <a:t> (</a:t>
                          </a:r>
                          <a:r>
                            <a:rPr lang="vi-VN" sz="2800" dirty="0" err="1"/>
                            <a:t>final</a:t>
                          </a:r>
                          <a:r>
                            <a:rPr lang="vi-VN" sz="2800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100000" t="-218705" r="-200150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200000" t="-218705" r="-100150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____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8989534"/>
                      </a:ext>
                    </a:extLst>
                  </a:tr>
                  <a:tr h="8450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mAP@0.50:0.95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100000" t="-318705" r="-20015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0.4740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+0.396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89566890"/>
                      </a:ext>
                    </a:extLst>
                  </a:tr>
                  <a:tr h="8450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u="none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</a:t>
                          </a:r>
                          <a:r>
                            <a:rPr lang="en-US" sz="2800" u="none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AP@0.50</a:t>
                          </a:r>
                          <a:endParaRPr lang="vi-VN" sz="2800" u="none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100000" t="-421739" r="-200150" b="-2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0.8224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+0.168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99002123"/>
                      </a:ext>
                    </a:extLst>
                  </a:tr>
                  <a:tr h="8450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>
                              <a:solidFill>
                                <a:schemeClr val="tx1"/>
                              </a:solidFill>
                            </a:rPr>
                            <a:t>mAP@0.75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100000" t="-517986" r="-200150" b="-1007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0.4948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+0.485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88498627"/>
                      </a:ext>
                    </a:extLst>
                  </a:tr>
                  <a:tr h="8450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AR</a:t>
                          </a:r>
                          <a:r>
                            <a:rPr lang="en-US" sz="2800" dirty="0"/>
                            <a:t>@0.50:0.95</a:t>
                          </a:r>
                          <a:endParaRPr lang="vi-VN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100000" t="-617986" r="-200150" b="-7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0.5561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+0.344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405299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2001AF87-E681-27F3-6576-116582B43372}"/>
              </a:ext>
            </a:extLst>
          </p:cNvPr>
          <p:cNvSpPr txBox="1"/>
          <p:nvPr/>
        </p:nvSpPr>
        <p:spPr>
          <a:xfrm>
            <a:off x="3352800" y="8421752"/>
            <a:ext cx="1158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dirty="0" err="1"/>
              <a:t>Comparision</a:t>
            </a:r>
            <a:r>
              <a:rPr lang="vi-VN" sz="3600" dirty="0"/>
              <a:t> </a:t>
            </a:r>
            <a:r>
              <a:rPr lang="vi-VN" sz="3600" dirty="0" err="1"/>
              <a:t>of</a:t>
            </a:r>
            <a:r>
              <a:rPr lang="vi-VN" sz="3600" dirty="0"/>
              <a:t> </a:t>
            </a:r>
            <a:r>
              <a:rPr lang="vi-VN" sz="3600" dirty="0" err="1"/>
              <a:t>detection</a:t>
            </a:r>
            <a:r>
              <a:rPr lang="vi-VN" sz="3600" dirty="0"/>
              <a:t> </a:t>
            </a:r>
            <a:r>
              <a:rPr lang="vi-VN" sz="3600" dirty="0" err="1"/>
              <a:t>metric</a:t>
            </a:r>
            <a:r>
              <a:rPr lang="vi-VN" sz="3600" dirty="0"/>
              <a:t> </a:t>
            </a:r>
            <a:r>
              <a:rPr lang="vi-VN" sz="3600" dirty="0" err="1"/>
              <a:t>on</a:t>
            </a:r>
            <a:r>
              <a:rPr lang="vi-VN" sz="3600" dirty="0"/>
              <a:t> </a:t>
            </a:r>
            <a:r>
              <a:rPr lang="vi-VN" sz="3600" dirty="0" err="1"/>
              <a:t>test</a:t>
            </a:r>
            <a:r>
              <a:rPr lang="vi-VN" sz="3600" dirty="0"/>
              <a:t> </a:t>
            </a:r>
            <a:r>
              <a:rPr lang="vi-VN" sz="3600" dirty="0" err="1"/>
              <a:t>set</a:t>
            </a:r>
            <a:r>
              <a:rPr lang="vi-VN" sz="3600" dirty="0"/>
              <a:t> (30 </a:t>
            </a:r>
            <a:r>
              <a:rPr lang="vi-VN" sz="3600" dirty="0" err="1"/>
              <a:t>epochs</a:t>
            </a:r>
            <a:r>
              <a:rPr lang="vi-VN" sz="3600" dirty="0"/>
              <a:t>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5B87C-83DE-52C8-6B34-F198328C8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6277F44-E785-6040-41A6-6DB7AE8FA8D4}"/>
              </a:ext>
            </a:extLst>
          </p:cNvPr>
          <p:cNvSpPr/>
          <p:nvPr/>
        </p:nvSpPr>
        <p:spPr>
          <a:xfrm rot="-8285520">
            <a:off x="14724812" y="1645482"/>
            <a:ext cx="2255577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6420D38-4180-0202-27AB-E852E42469A2}"/>
              </a:ext>
            </a:extLst>
          </p:cNvPr>
          <p:cNvSpPr/>
          <p:nvPr/>
        </p:nvSpPr>
        <p:spPr>
          <a:xfrm rot="7437660">
            <a:off x="16047863" y="1161640"/>
            <a:ext cx="2887637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42873F2-A1F5-79EF-6918-E931FD3570AF}"/>
              </a:ext>
            </a:extLst>
          </p:cNvPr>
          <p:cNvSpPr/>
          <p:nvPr/>
        </p:nvSpPr>
        <p:spPr>
          <a:xfrm>
            <a:off x="16125844" y="1766878"/>
            <a:ext cx="1162802" cy="1164241"/>
          </a:xfrm>
          <a:custGeom>
            <a:avLst/>
            <a:gdLst/>
            <a:ahLst/>
            <a:cxnLst/>
            <a:rect l="l" t="t" r="r" b="b"/>
            <a:pathLst>
              <a:path w="1162802" h="1164241">
                <a:moveTo>
                  <a:pt x="0" y="0"/>
                </a:moveTo>
                <a:lnTo>
                  <a:pt x="1162803" y="0"/>
                </a:lnTo>
                <a:lnTo>
                  <a:pt x="1162803" y="1164241"/>
                </a:lnTo>
                <a:lnTo>
                  <a:pt x="0" y="11642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715ABC70-3159-D4D1-678D-0A344CA9A617}"/>
              </a:ext>
            </a:extLst>
          </p:cNvPr>
          <p:cNvSpPr/>
          <p:nvPr/>
        </p:nvSpPr>
        <p:spPr>
          <a:xfrm>
            <a:off x="14703123" y="623516"/>
            <a:ext cx="583197" cy="584645"/>
          </a:xfrm>
          <a:custGeom>
            <a:avLst/>
            <a:gdLst/>
            <a:ahLst/>
            <a:cxnLst/>
            <a:rect l="l" t="t" r="r" b="b"/>
            <a:pathLst>
              <a:path w="583197" h="584645">
                <a:moveTo>
                  <a:pt x="0" y="0"/>
                </a:moveTo>
                <a:lnTo>
                  <a:pt x="583197" y="0"/>
                </a:lnTo>
                <a:lnTo>
                  <a:pt x="583197" y="584645"/>
                </a:lnTo>
                <a:lnTo>
                  <a:pt x="0" y="5846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7F032435-955E-AA6E-8FC3-E9FDC37E6C7D}"/>
              </a:ext>
            </a:extLst>
          </p:cNvPr>
          <p:cNvGrpSpPr/>
          <p:nvPr/>
        </p:nvGrpSpPr>
        <p:grpSpPr>
          <a:xfrm>
            <a:off x="1028700" y="427324"/>
            <a:ext cx="11624956" cy="1202752"/>
            <a:chOff x="0" y="0"/>
            <a:chExt cx="19141937" cy="198048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D1C414D-5A6E-EDC0-DE6C-853D0E506C48}"/>
                </a:ext>
              </a:extLst>
            </p:cNvPr>
            <p:cNvSpPr/>
            <p:nvPr/>
          </p:nvSpPr>
          <p:spPr>
            <a:xfrm>
              <a:off x="0" y="0"/>
              <a:ext cx="19141937" cy="1980484"/>
            </a:xfrm>
            <a:custGeom>
              <a:avLst/>
              <a:gdLst/>
              <a:ahLst/>
              <a:cxnLst/>
              <a:rect l="l" t="t" r="r" b="b"/>
              <a:pathLst>
                <a:path w="19141937" h="1980484">
                  <a:moveTo>
                    <a:pt x="0" y="0"/>
                  </a:moveTo>
                  <a:lnTo>
                    <a:pt x="19141937" y="0"/>
                  </a:lnTo>
                  <a:lnTo>
                    <a:pt x="19141937" y="1980484"/>
                  </a:lnTo>
                  <a:lnTo>
                    <a:pt x="0" y="19804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51703" r="45996" b="-51703"/>
              </a:stretch>
            </a:blip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8046763F-A91E-1E5C-0DCA-210A375D176B}"/>
                </a:ext>
              </a:extLst>
            </p:cNvPr>
            <p:cNvSpPr txBox="1"/>
            <p:nvPr/>
          </p:nvSpPr>
          <p:spPr>
            <a:xfrm>
              <a:off x="0" y="-19050"/>
              <a:ext cx="19141937" cy="199953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3D3D3D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04. Evaluation</a:t>
              </a:r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A3E14F0F-5502-BD25-23EC-34A1FF362558}"/>
              </a:ext>
            </a:extLst>
          </p:cNvPr>
          <p:cNvSpPr/>
          <p:nvPr/>
        </p:nvSpPr>
        <p:spPr>
          <a:xfrm>
            <a:off x="16976884" y="333356"/>
            <a:ext cx="349920" cy="53283"/>
          </a:xfrm>
          <a:custGeom>
            <a:avLst/>
            <a:gdLst/>
            <a:ahLst/>
            <a:cxnLst/>
            <a:rect l="l" t="t" r="r" b="b"/>
            <a:pathLst>
              <a:path w="349920" h="53283">
                <a:moveTo>
                  <a:pt x="0" y="0"/>
                </a:moveTo>
                <a:lnTo>
                  <a:pt x="349920" y="0"/>
                </a:lnTo>
                <a:lnTo>
                  <a:pt x="349920" y="53283"/>
                </a:lnTo>
                <a:lnTo>
                  <a:pt x="0" y="532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11B551A-F565-16A0-7C07-15837B135FF6}"/>
              </a:ext>
            </a:extLst>
          </p:cNvPr>
          <p:cNvSpPr txBox="1"/>
          <p:nvPr/>
        </p:nvSpPr>
        <p:spPr>
          <a:xfrm>
            <a:off x="17225694" y="9210675"/>
            <a:ext cx="219612" cy="50321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7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F50DE05-7C62-0A82-48F5-02B26E991ED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317" b="49935"/>
          <a:stretch>
            <a:fillRect/>
          </a:stretch>
        </p:blipFill>
        <p:spPr>
          <a:xfrm>
            <a:off x="1323968" y="2082849"/>
            <a:ext cx="15640061" cy="587122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287ADC1-7AFA-F07D-5428-E978405025B1}"/>
              </a:ext>
            </a:extLst>
          </p:cNvPr>
          <p:cNvSpPr txBox="1"/>
          <p:nvPr/>
        </p:nvSpPr>
        <p:spPr>
          <a:xfrm>
            <a:off x="5090409" y="8267700"/>
            <a:ext cx="81071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/>
              <a:t>RetinaNet + ConvNeXt-Tiny training metrics</a:t>
            </a:r>
          </a:p>
        </p:txBody>
      </p:sp>
    </p:spTree>
    <p:extLst>
      <p:ext uri="{BB962C8B-B14F-4D97-AF65-F5344CB8AC3E}">
        <p14:creationId xmlns:p14="http://schemas.microsoft.com/office/powerpoint/2010/main" val="4153806201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1A947-8937-C25E-0A22-4CFD40A5D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DF243E6-4124-8E43-6A19-9FCED1239B20}"/>
              </a:ext>
            </a:extLst>
          </p:cNvPr>
          <p:cNvSpPr/>
          <p:nvPr/>
        </p:nvSpPr>
        <p:spPr>
          <a:xfrm rot="-8285520">
            <a:off x="14724812" y="1645482"/>
            <a:ext cx="2255577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CC69FBF-F648-3AF9-2AA9-A076FA9157DB}"/>
              </a:ext>
            </a:extLst>
          </p:cNvPr>
          <p:cNvSpPr/>
          <p:nvPr/>
        </p:nvSpPr>
        <p:spPr>
          <a:xfrm rot="7437660">
            <a:off x="16047863" y="1161640"/>
            <a:ext cx="2887637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BE925F5-F4BE-AB91-F30A-C8C7A0A45A9C}"/>
              </a:ext>
            </a:extLst>
          </p:cNvPr>
          <p:cNvSpPr/>
          <p:nvPr/>
        </p:nvSpPr>
        <p:spPr>
          <a:xfrm>
            <a:off x="16125844" y="1766878"/>
            <a:ext cx="1162802" cy="1164241"/>
          </a:xfrm>
          <a:custGeom>
            <a:avLst/>
            <a:gdLst/>
            <a:ahLst/>
            <a:cxnLst/>
            <a:rect l="l" t="t" r="r" b="b"/>
            <a:pathLst>
              <a:path w="1162802" h="1164241">
                <a:moveTo>
                  <a:pt x="0" y="0"/>
                </a:moveTo>
                <a:lnTo>
                  <a:pt x="1162803" y="0"/>
                </a:lnTo>
                <a:lnTo>
                  <a:pt x="1162803" y="1164241"/>
                </a:lnTo>
                <a:lnTo>
                  <a:pt x="0" y="11642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04603AE-9293-43E9-FDC9-97CA1753D977}"/>
              </a:ext>
            </a:extLst>
          </p:cNvPr>
          <p:cNvSpPr/>
          <p:nvPr/>
        </p:nvSpPr>
        <p:spPr>
          <a:xfrm>
            <a:off x="14703123" y="623516"/>
            <a:ext cx="583197" cy="584645"/>
          </a:xfrm>
          <a:custGeom>
            <a:avLst/>
            <a:gdLst/>
            <a:ahLst/>
            <a:cxnLst/>
            <a:rect l="l" t="t" r="r" b="b"/>
            <a:pathLst>
              <a:path w="583197" h="584645">
                <a:moveTo>
                  <a:pt x="0" y="0"/>
                </a:moveTo>
                <a:lnTo>
                  <a:pt x="583197" y="0"/>
                </a:lnTo>
                <a:lnTo>
                  <a:pt x="583197" y="584645"/>
                </a:lnTo>
                <a:lnTo>
                  <a:pt x="0" y="5846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31D0DA9D-7D7F-7B3C-C7D2-463039F0536E}"/>
              </a:ext>
            </a:extLst>
          </p:cNvPr>
          <p:cNvGrpSpPr/>
          <p:nvPr/>
        </p:nvGrpSpPr>
        <p:grpSpPr>
          <a:xfrm>
            <a:off x="1028700" y="427324"/>
            <a:ext cx="11624956" cy="1202752"/>
            <a:chOff x="0" y="0"/>
            <a:chExt cx="19141937" cy="198048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B1B0EE4-8645-C6EA-BDA1-23BAA06B3B1D}"/>
                </a:ext>
              </a:extLst>
            </p:cNvPr>
            <p:cNvSpPr/>
            <p:nvPr/>
          </p:nvSpPr>
          <p:spPr>
            <a:xfrm>
              <a:off x="0" y="0"/>
              <a:ext cx="19141937" cy="1980484"/>
            </a:xfrm>
            <a:custGeom>
              <a:avLst/>
              <a:gdLst/>
              <a:ahLst/>
              <a:cxnLst/>
              <a:rect l="l" t="t" r="r" b="b"/>
              <a:pathLst>
                <a:path w="19141937" h="1980484">
                  <a:moveTo>
                    <a:pt x="0" y="0"/>
                  </a:moveTo>
                  <a:lnTo>
                    <a:pt x="19141937" y="0"/>
                  </a:lnTo>
                  <a:lnTo>
                    <a:pt x="19141937" y="1980484"/>
                  </a:lnTo>
                  <a:lnTo>
                    <a:pt x="0" y="19804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51703" r="45996" b="-51703"/>
              </a:stretch>
            </a:blip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E4C1180A-F43E-30C9-89A9-65CB1165FC6A}"/>
                </a:ext>
              </a:extLst>
            </p:cNvPr>
            <p:cNvSpPr txBox="1"/>
            <p:nvPr/>
          </p:nvSpPr>
          <p:spPr>
            <a:xfrm>
              <a:off x="0" y="-19050"/>
              <a:ext cx="19141937" cy="199953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3D3D3D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04. Evaluation</a:t>
              </a:r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BC8589CB-D93C-3EF0-267F-060E48863411}"/>
              </a:ext>
            </a:extLst>
          </p:cNvPr>
          <p:cNvSpPr/>
          <p:nvPr/>
        </p:nvSpPr>
        <p:spPr>
          <a:xfrm>
            <a:off x="16976884" y="333356"/>
            <a:ext cx="349920" cy="53283"/>
          </a:xfrm>
          <a:custGeom>
            <a:avLst/>
            <a:gdLst/>
            <a:ahLst/>
            <a:cxnLst/>
            <a:rect l="l" t="t" r="r" b="b"/>
            <a:pathLst>
              <a:path w="349920" h="53283">
                <a:moveTo>
                  <a:pt x="0" y="0"/>
                </a:moveTo>
                <a:lnTo>
                  <a:pt x="349920" y="0"/>
                </a:lnTo>
                <a:lnTo>
                  <a:pt x="349920" y="53283"/>
                </a:lnTo>
                <a:lnTo>
                  <a:pt x="0" y="532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5515EF7-21F8-5EE6-4E8F-48796C73AB0D}"/>
              </a:ext>
            </a:extLst>
          </p:cNvPr>
          <p:cNvSpPr txBox="1"/>
          <p:nvPr/>
        </p:nvSpPr>
        <p:spPr>
          <a:xfrm>
            <a:off x="17225694" y="9210675"/>
            <a:ext cx="219612" cy="50321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7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D7A981D-F201-032E-F18D-5B7E6400957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0899" y="1547812"/>
            <a:ext cx="11506202" cy="719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323491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8D6FD-2258-9875-1C1B-C5663B73C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75A183A-4E25-238B-1A4C-A906EF76CE6F}"/>
              </a:ext>
            </a:extLst>
          </p:cNvPr>
          <p:cNvSpPr/>
          <p:nvPr/>
        </p:nvSpPr>
        <p:spPr>
          <a:xfrm rot="-8285520">
            <a:off x="14724812" y="1645482"/>
            <a:ext cx="2255577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AD7272C-A2C5-1781-8332-04FCD6EDFF8A}"/>
              </a:ext>
            </a:extLst>
          </p:cNvPr>
          <p:cNvSpPr/>
          <p:nvPr/>
        </p:nvSpPr>
        <p:spPr>
          <a:xfrm rot="7437660">
            <a:off x="16047863" y="1161640"/>
            <a:ext cx="2887637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D08C31A1-07DF-D317-A32B-7A172DA96996}"/>
              </a:ext>
            </a:extLst>
          </p:cNvPr>
          <p:cNvSpPr/>
          <p:nvPr/>
        </p:nvSpPr>
        <p:spPr>
          <a:xfrm>
            <a:off x="16125844" y="1766878"/>
            <a:ext cx="1162802" cy="1164241"/>
          </a:xfrm>
          <a:custGeom>
            <a:avLst/>
            <a:gdLst/>
            <a:ahLst/>
            <a:cxnLst/>
            <a:rect l="l" t="t" r="r" b="b"/>
            <a:pathLst>
              <a:path w="1162802" h="1164241">
                <a:moveTo>
                  <a:pt x="0" y="0"/>
                </a:moveTo>
                <a:lnTo>
                  <a:pt x="1162803" y="0"/>
                </a:lnTo>
                <a:lnTo>
                  <a:pt x="1162803" y="1164241"/>
                </a:lnTo>
                <a:lnTo>
                  <a:pt x="0" y="11642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F7BFF21-D74A-211C-9A28-67D1D5EEC5A4}"/>
              </a:ext>
            </a:extLst>
          </p:cNvPr>
          <p:cNvSpPr/>
          <p:nvPr/>
        </p:nvSpPr>
        <p:spPr>
          <a:xfrm>
            <a:off x="14703123" y="623516"/>
            <a:ext cx="583197" cy="584645"/>
          </a:xfrm>
          <a:custGeom>
            <a:avLst/>
            <a:gdLst/>
            <a:ahLst/>
            <a:cxnLst/>
            <a:rect l="l" t="t" r="r" b="b"/>
            <a:pathLst>
              <a:path w="583197" h="584645">
                <a:moveTo>
                  <a:pt x="0" y="0"/>
                </a:moveTo>
                <a:lnTo>
                  <a:pt x="583197" y="0"/>
                </a:lnTo>
                <a:lnTo>
                  <a:pt x="583197" y="584645"/>
                </a:lnTo>
                <a:lnTo>
                  <a:pt x="0" y="5846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BA3E9C97-AF3F-9EDA-241F-797DFF7C05A1}"/>
              </a:ext>
            </a:extLst>
          </p:cNvPr>
          <p:cNvGrpSpPr/>
          <p:nvPr/>
        </p:nvGrpSpPr>
        <p:grpSpPr>
          <a:xfrm>
            <a:off x="1028700" y="427324"/>
            <a:ext cx="11624956" cy="1202752"/>
            <a:chOff x="0" y="0"/>
            <a:chExt cx="19141937" cy="198048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C30B83A-6BB4-9C28-4402-B252E336099D}"/>
                </a:ext>
              </a:extLst>
            </p:cNvPr>
            <p:cNvSpPr/>
            <p:nvPr/>
          </p:nvSpPr>
          <p:spPr>
            <a:xfrm>
              <a:off x="0" y="0"/>
              <a:ext cx="19141937" cy="1980484"/>
            </a:xfrm>
            <a:custGeom>
              <a:avLst/>
              <a:gdLst/>
              <a:ahLst/>
              <a:cxnLst/>
              <a:rect l="l" t="t" r="r" b="b"/>
              <a:pathLst>
                <a:path w="19141937" h="1980484">
                  <a:moveTo>
                    <a:pt x="0" y="0"/>
                  </a:moveTo>
                  <a:lnTo>
                    <a:pt x="19141937" y="0"/>
                  </a:lnTo>
                  <a:lnTo>
                    <a:pt x="19141937" y="1980484"/>
                  </a:lnTo>
                  <a:lnTo>
                    <a:pt x="0" y="19804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51703" r="45996" b="-51703"/>
              </a:stretch>
            </a:blip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E3DF2B25-44D5-5A37-3068-3F45D18D710E}"/>
                </a:ext>
              </a:extLst>
            </p:cNvPr>
            <p:cNvSpPr txBox="1"/>
            <p:nvPr/>
          </p:nvSpPr>
          <p:spPr>
            <a:xfrm>
              <a:off x="0" y="-19050"/>
              <a:ext cx="19141937" cy="199953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3D3D3D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04. Evaluation</a:t>
              </a:r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27D9E170-5C19-C55E-9EB0-A5BB2BA7C5DB}"/>
              </a:ext>
            </a:extLst>
          </p:cNvPr>
          <p:cNvSpPr/>
          <p:nvPr/>
        </p:nvSpPr>
        <p:spPr>
          <a:xfrm>
            <a:off x="16976884" y="333356"/>
            <a:ext cx="349920" cy="53283"/>
          </a:xfrm>
          <a:custGeom>
            <a:avLst/>
            <a:gdLst/>
            <a:ahLst/>
            <a:cxnLst/>
            <a:rect l="l" t="t" r="r" b="b"/>
            <a:pathLst>
              <a:path w="349920" h="53283">
                <a:moveTo>
                  <a:pt x="0" y="0"/>
                </a:moveTo>
                <a:lnTo>
                  <a:pt x="349920" y="0"/>
                </a:lnTo>
                <a:lnTo>
                  <a:pt x="349920" y="53283"/>
                </a:lnTo>
                <a:lnTo>
                  <a:pt x="0" y="532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C88C74F-BDC4-7158-10EE-11655869F865}"/>
              </a:ext>
            </a:extLst>
          </p:cNvPr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8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BAB8880-4BCA-F932-D0DE-405FEB5C65D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19520" y="2178489"/>
            <a:ext cx="10241583" cy="768118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E367B4B-2344-6FBB-EC12-159390957A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0644" y="2058599"/>
            <a:ext cx="9499273" cy="823169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99300E4-0133-EC33-D0E9-39EB75CA0538}"/>
              </a:ext>
            </a:extLst>
          </p:cNvPr>
          <p:cNvSpPr txBox="1"/>
          <p:nvPr/>
        </p:nvSpPr>
        <p:spPr>
          <a:xfrm>
            <a:off x="2937806" y="1688730"/>
            <a:ext cx="2602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/>
              <a:t>RetinaNet</a:t>
            </a:r>
            <a:r>
              <a:rPr lang="vi-VN" b="1" dirty="0"/>
              <a:t> + </a:t>
            </a:r>
            <a:r>
              <a:rPr lang="vi-VN" b="1" dirty="0" err="1"/>
              <a:t>ConvNeXt</a:t>
            </a:r>
            <a:endParaRPr lang="vi-VN" b="1" dirty="0"/>
          </a:p>
        </p:txBody>
      </p:sp>
    </p:spTree>
    <p:extLst>
      <p:ext uri="{BB962C8B-B14F-4D97-AF65-F5344CB8AC3E}">
        <p14:creationId xmlns:p14="http://schemas.microsoft.com/office/powerpoint/2010/main" val="890846998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8285520">
            <a:off x="14724812" y="1645482"/>
            <a:ext cx="2255577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7437660">
            <a:off x="16047863" y="1161640"/>
            <a:ext cx="2887637" cy="0"/>
          </a:xfrm>
          <a:prstGeom prst="line">
            <a:avLst/>
          </a:prstGeom>
          <a:ln w="9525" cap="rnd">
            <a:solidFill>
              <a:srgbClr val="3D3D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6125844" y="1766878"/>
            <a:ext cx="1162802" cy="1164241"/>
          </a:xfrm>
          <a:custGeom>
            <a:avLst/>
            <a:gdLst/>
            <a:ahLst/>
            <a:cxnLst/>
            <a:rect l="l" t="t" r="r" b="b"/>
            <a:pathLst>
              <a:path w="1162802" h="1164241">
                <a:moveTo>
                  <a:pt x="0" y="0"/>
                </a:moveTo>
                <a:lnTo>
                  <a:pt x="1162803" y="0"/>
                </a:lnTo>
                <a:lnTo>
                  <a:pt x="1162803" y="1164241"/>
                </a:lnTo>
                <a:lnTo>
                  <a:pt x="0" y="11642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03123" y="623516"/>
            <a:ext cx="583197" cy="584645"/>
          </a:xfrm>
          <a:custGeom>
            <a:avLst/>
            <a:gdLst/>
            <a:ahLst/>
            <a:cxnLst/>
            <a:rect l="l" t="t" r="r" b="b"/>
            <a:pathLst>
              <a:path w="583197" h="584645">
                <a:moveTo>
                  <a:pt x="0" y="0"/>
                </a:moveTo>
                <a:lnTo>
                  <a:pt x="583197" y="0"/>
                </a:lnTo>
                <a:lnTo>
                  <a:pt x="583197" y="584645"/>
                </a:lnTo>
                <a:lnTo>
                  <a:pt x="0" y="5846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28700" y="427324"/>
            <a:ext cx="11624956" cy="1202752"/>
            <a:chOff x="0" y="0"/>
            <a:chExt cx="19141937" cy="19804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141937" cy="1980484"/>
            </a:xfrm>
            <a:custGeom>
              <a:avLst/>
              <a:gdLst/>
              <a:ahLst/>
              <a:cxnLst/>
              <a:rect l="l" t="t" r="r" b="b"/>
              <a:pathLst>
                <a:path w="19141937" h="1980484">
                  <a:moveTo>
                    <a:pt x="0" y="0"/>
                  </a:moveTo>
                  <a:lnTo>
                    <a:pt x="19141937" y="0"/>
                  </a:lnTo>
                  <a:lnTo>
                    <a:pt x="19141937" y="1980484"/>
                  </a:lnTo>
                  <a:lnTo>
                    <a:pt x="0" y="19804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51703" r="45996" b="-51703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9141937" cy="199953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3D3D3D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05. Conclusion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16976884" y="333356"/>
            <a:ext cx="349920" cy="53283"/>
          </a:xfrm>
          <a:custGeom>
            <a:avLst/>
            <a:gdLst/>
            <a:ahLst/>
            <a:cxnLst/>
            <a:rect l="l" t="t" r="r" b="b"/>
            <a:pathLst>
              <a:path w="349920" h="53283">
                <a:moveTo>
                  <a:pt x="0" y="0"/>
                </a:moveTo>
                <a:lnTo>
                  <a:pt x="349920" y="0"/>
                </a:lnTo>
                <a:lnTo>
                  <a:pt x="349920" y="53283"/>
                </a:lnTo>
                <a:lnTo>
                  <a:pt x="0" y="532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7225694" y="9210675"/>
            <a:ext cx="219612" cy="50321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8</a:t>
            </a:r>
          </a:p>
        </p:txBody>
      </p:sp>
      <p:sp>
        <p:nvSpPr>
          <p:cNvPr id="11" name="TextBox 23">
            <a:extLst>
              <a:ext uri="{FF2B5EF4-FFF2-40B4-BE49-F238E27FC236}">
                <a16:creationId xmlns:a16="http://schemas.microsoft.com/office/drawing/2014/main" id="{3DAF039C-3FE6-713D-9782-A87F6A724630}"/>
              </a:ext>
            </a:extLst>
          </p:cNvPr>
          <p:cNvSpPr txBox="1"/>
          <p:nvPr/>
        </p:nvSpPr>
        <p:spPr>
          <a:xfrm>
            <a:off x="1028700" y="1766878"/>
            <a:ext cx="5513421" cy="4885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3999" b="1" dirty="0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Models Evaluated </a:t>
            </a:r>
          </a:p>
          <a:p>
            <a:pPr marL="647700" lvl="1" indent="-323850" algn="l">
              <a:lnSpc>
                <a:spcPts val="45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FCOS + </a:t>
            </a:r>
            <a:r>
              <a:rPr lang="en-US" sz="3000" dirty="0" err="1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ConvNeXt</a:t>
            </a:r>
            <a:r>
              <a:rPr lang="en-US" sz="300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-Small</a:t>
            </a:r>
            <a:endParaRPr lang="en-US" sz="3000" b="1" dirty="0">
              <a:solidFill>
                <a:srgbClr val="000000"/>
              </a:solidFill>
              <a:latin typeface="Barlow Bold"/>
              <a:ea typeface="Barlow Bold"/>
              <a:cs typeface="Barlow Bold"/>
              <a:sym typeface="Barlow Bold"/>
            </a:endParaRPr>
          </a:p>
          <a:p>
            <a:pPr marL="1295400" lvl="2" indent="-431800">
              <a:lnSpc>
                <a:spcPts val="60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mAP@0.50 ≈ 0.82</a:t>
            </a:r>
          </a:p>
          <a:p>
            <a:pPr marL="1295400" lvl="2" indent="-431800">
              <a:lnSpc>
                <a:spcPts val="60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mAP@0.75 ≈ 0.49</a:t>
            </a:r>
          </a:p>
          <a:p>
            <a:pPr marL="647700" lvl="1" indent="-323850">
              <a:lnSpc>
                <a:spcPts val="4500"/>
              </a:lnSpc>
              <a:buFont typeface="Arial"/>
              <a:buChar char="•"/>
            </a:pPr>
            <a:r>
              <a:rPr lang="en-US" sz="3000" dirty="0" err="1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RetinaNet</a:t>
            </a:r>
            <a:r>
              <a:rPr lang="en-US" sz="300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+ </a:t>
            </a:r>
            <a:r>
              <a:rPr lang="en-US" sz="3000" dirty="0" err="1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ConvNeXt</a:t>
            </a:r>
            <a:r>
              <a:rPr lang="en-US" sz="300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-Tiny</a:t>
            </a:r>
            <a:endParaRPr lang="en-US" sz="3000" b="1" dirty="0">
              <a:solidFill>
                <a:srgbClr val="000000"/>
              </a:solidFill>
              <a:latin typeface="Barlow Bold"/>
              <a:ea typeface="Barlow Bold"/>
              <a:cs typeface="Barlow Bold"/>
              <a:sym typeface="Barlow Bold"/>
            </a:endParaRPr>
          </a:p>
          <a:p>
            <a:pPr marL="1295400" lvl="2" indent="-431800">
              <a:lnSpc>
                <a:spcPts val="60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mAP@0.50 ≈ 0.99</a:t>
            </a:r>
          </a:p>
          <a:p>
            <a:pPr marL="1295400" lvl="2" indent="-431800">
              <a:lnSpc>
                <a:spcPts val="60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mAP@0.75 ≈ 0.98</a:t>
            </a:r>
          </a:p>
        </p:txBody>
      </p:sp>
      <p:sp>
        <p:nvSpPr>
          <p:cNvPr id="13" name="TextBox 23">
            <a:extLst>
              <a:ext uri="{FF2B5EF4-FFF2-40B4-BE49-F238E27FC236}">
                <a16:creationId xmlns:a16="http://schemas.microsoft.com/office/drawing/2014/main" id="{A26F7DB1-ADDD-40FA-3189-FB1E879FD3A5}"/>
              </a:ext>
            </a:extLst>
          </p:cNvPr>
          <p:cNvSpPr txBox="1"/>
          <p:nvPr/>
        </p:nvSpPr>
        <p:spPr>
          <a:xfrm>
            <a:off x="6563007" y="4258259"/>
            <a:ext cx="9602912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02641" lvl="1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Barlow" panose="00000500000000000000" pitchFamily="2" charset="0"/>
                <a:ea typeface="Barlow Bold"/>
                <a:cs typeface="Barlow Bold"/>
                <a:sym typeface="Barlow Bold"/>
              </a:rPr>
              <a:t> Higher input resolution (640x640 vs 512x512)</a:t>
            </a:r>
            <a:endParaRPr lang="en-US" sz="3200" dirty="0">
              <a:solidFill>
                <a:srgbClr val="000000"/>
              </a:solidFill>
              <a:latin typeface="Barlow"/>
              <a:ea typeface="Barlow Bold"/>
              <a:cs typeface="Barlow Bold"/>
              <a:sym typeface="Barlow"/>
            </a:endParaRPr>
          </a:p>
          <a:p>
            <a:pPr marL="802641" lvl="1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Barlow"/>
                <a:ea typeface="Barlow Bold"/>
                <a:cs typeface="Barlow Bold"/>
                <a:sym typeface="Barlow"/>
              </a:rPr>
              <a:t>Anchor-based regression</a:t>
            </a:r>
          </a:p>
          <a:p>
            <a:pPr marL="802641" lvl="1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Barlow"/>
                <a:ea typeface="Barlow Bold"/>
                <a:cs typeface="Barlow Bold"/>
                <a:sym typeface="Barlow"/>
              </a:rPr>
              <a:t>Easier optimization for consistent object sizes</a:t>
            </a:r>
            <a:endParaRPr lang="en-US" sz="3200" dirty="0">
              <a:solidFill>
                <a:srgbClr val="000000"/>
              </a:solidFill>
              <a:latin typeface="Barlow" panose="00000500000000000000" pitchFamily="2" charset="0"/>
              <a:ea typeface="Barlow Bold"/>
              <a:cs typeface="Barlow Bold"/>
              <a:sym typeface="Barlow Bold"/>
            </a:endParaRPr>
          </a:p>
        </p:txBody>
      </p:sp>
      <p:sp>
        <p:nvSpPr>
          <p:cNvPr id="14" name="Freeform 24">
            <a:extLst>
              <a:ext uri="{FF2B5EF4-FFF2-40B4-BE49-F238E27FC236}">
                <a16:creationId xmlns:a16="http://schemas.microsoft.com/office/drawing/2014/main" id="{7A5971CA-31F8-7BAD-9CC6-9DA7429B9E67}"/>
              </a:ext>
            </a:extLst>
          </p:cNvPr>
          <p:cNvSpPr/>
          <p:nvPr/>
        </p:nvSpPr>
        <p:spPr>
          <a:xfrm>
            <a:off x="6421721" y="4402361"/>
            <a:ext cx="240800" cy="1189125"/>
          </a:xfrm>
          <a:custGeom>
            <a:avLst/>
            <a:gdLst/>
            <a:ahLst/>
            <a:cxnLst/>
            <a:rect l="l" t="t" r="r" b="b"/>
            <a:pathLst>
              <a:path w="240800" h="1189125">
                <a:moveTo>
                  <a:pt x="0" y="0"/>
                </a:moveTo>
                <a:lnTo>
                  <a:pt x="240800" y="0"/>
                </a:lnTo>
                <a:lnTo>
                  <a:pt x="240800" y="1189125"/>
                </a:lnTo>
                <a:lnTo>
                  <a:pt x="0" y="118912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3386" r="-3386"/>
            </a:stretch>
          </a:blipFill>
        </p:spPr>
      </p:sp>
      <p:sp>
        <p:nvSpPr>
          <p:cNvPr id="15" name="Freeform 21">
            <a:extLst>
              <a:ext uri="{FF2B5EF4-FFF2-40B4-BE49-F238E27FC236}">
                <a16:creationId xmlns:a16="http://schemas.microsoft.com/office/drawing/2014/main" id="{AC44EB5F-A165-4CDF-AB3C-095977320F80}"/>
              </a:ext>
            </a:extLst>
          </p:cNvPr>
          <p:cNvSpPr/>
          <p:nvPr/>
        </p:nvSpPr>
        <p:spPr>
          <a:xfrm>
            <a:off x="1028700" y="7177781"/>
            <a:ext cx="647567" cy="412823"/>
          </a:xfrm>
          <a:custGeom>
            <a:avLst/>
            <a:gdLst/>
            <a:ahLst/>
            <a:cxnLst/>
            <a:rect l="l" t="t" r="r" b="b"/>
            <a:pathLst>
              <a:path w="647567" h="412823">
                <a:moveTo>
                  <a:pt x="0" y="0"/>
                </a:moveTo>
                <a:lnTo>
                  <a:pt x="647567" y="0"/>
                </a:lnTo>
                <a:lnTo>
                  <a:pt x="647567" y="412823"/>
                </a:lnTo>
                <a:lnTo>
                  <a:pt x="0" y="41282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t="-13" b="-16"/>
            </a:stretch>
          </a:blipFill>
        </p:spPr>
      </p:sp>
      <p:sp>
        <p:nvSpPr>
          <p:cNvPr id="17" name="Freeform 24">
            <a:extLst>
              <a:ext uri="{FF2B5EF4-FFF2-40B4-BE49-F238E27FC236}">
                <a16:creationId xmlns:a16="http://schemas.microsoft.com/office/drawing/2014/main" id="{504F554E-DD32-4ACC-4D6C-FB340A4EAE08}"/>
              </a:ext>
            </a:extLst>
          </p:cNvPr>
          <p:cNvSpPr/>
          <p:nvPr/>
        </p:nvSpPr>
        <p:spPr>
          <a:xfrm>
            <a:off x="2133600" y="6789631"/>
            <a:ext cx="240800" cy="1189125"/>
          </a:xfrm>
          <a:custGeom>
            <a:avLst/>
            <a:gdLst/>
            <a:ahLst/>
            <a:cxnLst/>
            <a:rect l="l" t="t" r="r" b="b"/>
            <a:pathLst>
              <a:path w="240800" h="1189125">
                <a:moveTo>
                  <a:pt x="0" y="0"/>
                </a:moveTo>
                <a:lnTo>
                  <a:pt x="240800" y="0"/>
                </a:lnTo>
                <a:lnTo>
                  <a:pt x="240800" y="1189125"/>
                </a:lnTo>
                <a:lnTo>
                  <a:pt x="0" y="118912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3386" r="-3386"/>
            </a:stretch>
          </a:blipFill>
        </p:spPr>
      </p:sp>
      <p:sp>
        <p:nvSpPr>
          <p:cNvPr id="18" name="TextBox 23">
            <a:extLst>
              <a:ext uri="{FF2B5EF4-FFF2-40B4-BE49-F238E27FC236}">
                <a16:creationId xmlns:a16="http://schemas.microsoft.com/office/drawing/2014/main" id="{70FCB7EC-12D9-A0C1-C954-87E965AF3FCB}"/>
              </a:ext>
            </a:extLst>
          </p:cNvPr>
          <p:cNvSpPr txBox="1"/>
          <p:nvPr/>
        </p:nvSpPr>
        <p:spPr>
          <a:xfrm>
            <a:off x="2343920" y="6891749"/>
            <a:ext cx="9602912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02641" lvl="1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Barlow" panose="00000500000000000000" pitchFamily="2" charset="0"/>
                <a:ea typeface="Barlow Bold"/>
                <a:cs typeface="Barlow Bold"/>
                <a:sym typeface="Barlow Bold"/>
              </a:rPr>
              <a:t>Both models converged well</a:t>
            </a:r>
          </a:p>
          <a:p>
            <a:pPr marL="802641" lvl="1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Barlow" panose="00000500000000000000" pitchFamily="2" charset="0"/>
                <a:ea typeface="Barlow Bold"/>
                <a:cs typeface="Barlow Bold"/>
                <a:sym typeface="Barlow Bold"/>
              </a:rPr>
              <a:t>No significant overfitting</a:t>
            </a:r>
          </a:p>
        </p:txBody>
      </p:sp>
      <p:sp>
        <p:nvSpPr>
          <p:cNvPr id="19" name="TextBox 23">
            <a:extLst>
              <a:ext uri="{FF2B5EF4-FFF2-40B4-BE49-F238E27FC236}">
                <a16:creationId xmlns:a16="http://schemas.microsoft.com/office/drawing/2014/main" id="{6960BB6B-6EA9-AFA6-57EF-BEF22728EF37}"/>
              </a:ext>
            </a:extLst>
          </p:cNvPr>
          <p:cNvSpPr txBox="1"/>
          <p:nvPr/>
        </p:nvSpPr>
        <p:spPr>
          <a:xfrm>
            <a:off x="1028700" y="8115552"/>
            <a:ext cx="12306300" cy="24333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3999" b="1" dirty="0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Future Work </a:t>
            </a:r>
          </a:p>
          <a:p>
            <a:pPr marL="647700" lvl="1" indent="-323850" algn="l">
              <a:lnSpc>
                <a:spcPts val="45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Increase FCOS input resolution</a:t>
            </a:r>
          </a:p>
          <a:p>
            <a:pPr marL="647700" lvl="1" indent="-323850" algn="l">
              <a:lnSpc>
                <a:spcPts val="45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Improve regression loss design</a:t>
            </a:r>
          </a:p>
          <a:p>
            <a:pPr marL="647700" lvl="1" indent="-323850" algn="l">
              <a:lnSpc>
                <a:spcPts val="4500"/>
              </a:lnSpc>
              <a:buFont typeface="Arial"/>
              <a:buChar char="•"/>
            </a:pPr>
            <a:endParaRPr lang="en-US" sz="3000" dirty="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6327840">
            <a:off x="14486134" y="6950802"/>
            <a:ext cx="2372201" cy="0"/>
          </a:xfrm>
          <a:prstGeom prst="line">
            <a:avLst/>
          </a:prstGeom>
          <a:ln w="9525" cap="rnd">
            <a:solidFill>
              <a:srgbClr val="49494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4588380">
            <a:off x="14314465" y="4475436"/>
            <a:ext cx="2781071" cy="0"/>
          </a:xfrm>
          <a:prstGeom prst="line">
            <a:avLst/>
          </a:prstGeom>
          <a:ln w="9525" cap="rnd">
            <a:solidFill>
              <a:srgbClr val="49494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 rot="6400440">
            <a:off x="14396018" y="1860394"/>
            <a:ext cx="2801569" cy="0"/>
          </a:xfrm>
          <a:prstGeom prst="line">
            <a:avLst/>
          </a:prstGeom>
          <a:ln w="9525" cap="rnd">
            <a:solidFill>
              <a:srgbClr val="49494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rot="8746260">
            <a:off x="16106785" y="269196"/>
            <a:ext cx="1007945" cy="0"/>
          </a:xfrm>
          <a:prstGeom prst="line">
            <a:avLst/>
          </a:prstGeom>
          <a:ln w="9525" cap="rnd">
            <a:solidFill>
              <a:srgbClr val="49494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4814718" y="2568959"/>
            <a:ext cx="1164241" cy="1162802"/>
          </a:xfrm>
          <a:custGeom>
            <a:avLst/>
            <a:gdLst/>
            <a:ahLst/>
            <a:cxnLst/>
            <a:rect l="l" t="t" r="r" b="b"/>
            <a:pathLst>
              <a:path w="1164241" h="1162802">
                <a:moveTo>
                  <a:pt x="0" y="0"/>
                </a:moveTo>
                <a:lnTo>
                  <a:pt x="1164241" y="0"/>
                </a:lnTo>
                <a:lnTo>
                  <a:pt x="1164241" y="1162803"/>
                </a:lnTo>
                <a:lnTo>
                  <a:pt x="0" y="11628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739196" y="5508717"/>
            <a:ext cx="584645" cy="583197"/>
          </a:xfrm>
          <a:custGeom>
            <a:avLst/>
            <a:gdLst/>
            <a:ahLst/>
            <a:cxnLst/>
            <a:rect l="l" t="t" r="r" b="b"/>
            <a:pathLst>
              <a:path w="584645" h="583197">
                <a:moveTo>
                  <a:pt x="0" y="0"/>
                </a:moveTo>
                <a:lnTo>
                  <a:pt x="584644" y="0"/>
                </a:lnTo>
                <a:lnTo>
                  <a:pt x="584644" y="583197"/>
                </a:lnTo>
                <a:lnTo>
                  <a:pt x="0" y="5831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025755" y="354959"/>
            <a:ext cx="349196" cy="349196"/>
          </a:xfrm>
          <a:custGeom>
            <a:avLst/>
            <a:gdLst/>
            <a:ahLst/>
            <a:cxnLst/>
            <a:rect l="l" t="t" r="r" b="b"/>
            <a:pathLst>
              <a:path w="349196" h="349196">
                <a:moveTo>
                  <a:pt x="0" y="0"/>
                </a:moveTo>
                <a:lnTo>
                  <a:pt x="349196" y="0"/>
                </a:lnTo>
                <a:lnTo>
                  <a:pt x="349196" y="349196"/>
                </a:lnTo>
                <a:lnTo>
                  <a:pt x="0" y="3491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103078" y="7760522"/>
            <a:ext cx="586083" cy="585359"/>
          </a:xfrm>
          <a:custGeom>
            <a:avLst/>
            <a:gdLst/>
            <a:ahLst/>
            <a:cxnLst/>
            <a:rect l="l" t="t" r="r" b="b"/>
            <a:pathLst>
              <a:path w="586083" h="585359">
                <a:moveTo>
                  <a:pt x="0" y="0"/>
                </a:moveTo>
                <a:lnTo>
                  <a:pt x="586083" y="0"/>
                </a:lnTo>
                <a:lnTo>
                  <a:pt x="586083" y="585359"/>
                </a:lnTo>
                <a:lnTo>
                  <a:pt x="0" y="5853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666559" y="498243"/>
            <a:ext cx="53283" cy="349196"/>
          </a:xfrm>
          <a:custGeom>
            <a:avLst/>
            <a:gdLst/>
            <a:ahLst/>
            <a:cxnLst/>
            <a:rect l="l" t="t" r="r" b="b"/>
            <a:pathLst>
              <a:path w="53283" h="349196">
                <a:moveTo>
                  <a:pt x="0" y="0"/>
                </a:moveTo>
                <a:lnTo>
                  <a:pt x="53283" y="0"/>
                </a:lnTo>
                <a:lnTo>
                  <a:pt x="53283" y="349196"/>
                </a:lnTo>
                <a:lnTo>
                  <a:pt x="0" y="3491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AutoShape 11"/>
          <p:cNvSpPr/>
          <p:nvPr/>
        </p:nvSpPr>
        <p:spPr>
          <a:xfrm rot="-5677080">
            <a:off x="1466040" y="5317836"/>
            <a:ext cx="3375850" cy="0"/>
          </a:xfrm>
          <a:prstGeom prst="line">
            <a:avLst/>
          </a:prstGeom>
          <a:ln w="9525" cap="rnd">
            <a:solidFill>
              <a:srgbClr val="49494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 rot="-2885520">
            <a:off x="1395813" y="7846476"/>
            <a:ext cx="2255577" cy="0"/>
          </a:xfrm>
          <a:prstGeom prst="line">
            <a:avLst/>
          </a:prstGeom>
          <a:ln w="9525" cap="rnd">
            <a:solidFill>
              <a:srgbClr val="49494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 rot="-8763540">
            <a:off x="1563881" y="9485919"/>
            <a:ext cx="2887837" cy="0"/>
          </a:xfrm>
          <a:prstGeom prst="line">
            <a:avLst/>
          </a:prstGeom>
          <a:ln w="9525" cap="rnd">
            <a:solidFill>
              <a:srgbClr val="49494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Freeform 14"/>
          <p:cNvSpPr/>
          <p:nvPr/>
        </p:nvSpPr>
        <p:spPr>
          <a:xfrm>
            <a:off x="1242003" y="8124482"/>
            <a:ext cx="1164241" cy="1162802"/>
          </a:xfrm>
          <a:custGeom>
            <a:avLst/>
            <a:gdLst/>
            <a:ahLst/>
            <a:cxnLst/>
            <a:rect l="l" t="t" r="r" b="b"/>
            <a:pathLst>
              <a:path w="1164241" h="1162802">
                <a:moveTo>
                  <a:pt x="0" y="0"/>
                </a:moveTo>
                <a:lnTo>
                  <a:pt x="1164241" y="0"/>
                </a:lnTo>
                <a:lnTo>
                  <a:pt x="1164241" y="1162803"/>
                </a:lnTo>
                <a:lnTo>
                  <a:pt x="0" y="116280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2965675" y="6702476"/>
            <a:ext cx="584645" cy="583197"/>
          </a:xfrm>
          <a:custGeom>
            <a:avLst/>
            <a:gdLst/>
            <a:ahLst/>
            <a:cxnLst/>
            <a:rect l="l" t="t" r="r" b="b"/>
            <a:pathLst>
              <a:path w="584645" h="583197">
                <a:moveTo>
                  <a:pt x="0" y="0"/>
                </a:moveTo>
                <a:lnTo>
                  <a:pt x="584645" y="0"/>
                </a:lnTo>
                <a:lnTo>
                  <a:pt x="584645" y="583197"/>
                </a:lnTo>
                <a:lnTo>
                  <a:pt x="0" y="58319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3191037" y="9580321"/>
            <a:ext cx="349196" cy="349196"/>
          </a:xfrm>
          <a:custGeom>
            <a:avLst/>
            <a:gdLst/>
            <a:ahLst/>
            <a:cxnLst/>
            <a:rect l="l" t="t" r="r" b="b"/>
            <a:pathLst>
              <a:path w="349196" h="349196">
                <a:moveTo>
                  <a:pt x="0" y="0"/>
                </a:moveTo>
                <a:lnTo>
                  <a:pt x="349196" y="0"/>
                </a:lnTo>
                <a:lnTo>
                  <a:pt x="349196" y="349196"/>
                </a:lnTo>
                <a:lnTo>
                  <a:pt x="0" y="34919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 rot="5400000">
            <a:off x="2754716" y="3377517"/>
            <a:ext cx="576720" cy="575996"/>
            <a:chOff x="0" y="0"/>
            <a:chExt cx="768960" cy="76799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68985" cy="767969"/>
            </a:xfrm>
            <a:custGeom>
              <a:avLst/>
              <a:gdLst/>
              <a:ahLst/>
              <a:cxnLst/>
              <a:rect l="l" t="t" r="r" b="b"/>
              <a:pathLst>
                <a:path w="768985" h="767969">
                  <a:moveTo>
                    <a:pt x="384429" y="0"/>
                  </a:moveTo>
                  <a:cubicBezTo>
                    <a:pt x="172085" y="0"/>
                    <a:pt x="0" y="171958"/>
                    <a:pt x="0" y="383667"/>
                  </a:cubicBezTo>
                  <a:cubicBezTo>
                    <a:pt x="0" y="596011"/>
                    <a:pt x="172085" y="767969"/>
                    <a:pt x="384429" y="767969"/>
                  </a:cubicBezTo>
                  <a:cubicBezTo>
                    <a:pt x="596773" y="767969"/>
                    <a:pt x="768985" y="596011"/>
                    <a:pt x="768985" y="383667"/>
                  </a:cubicBezTo>
                  <a:cubicBezTo>
                    <a:pt x="768985" y="171958"/>
                    <a:pt x="596900" y="0"/>
                    <a:pt x="384429" y="0"/>
                  </a:cubicBezTo>
                  <a:close/>
                </a:path>
              </a:pathLst>
            </a:custGeom>
            <a:solidFill>
              <a:srgbClr val="77C6FC"/>
            </a:solidFill>
          </p:spPr>
        </p:sp>
      </p:grpSp>
      <p:sp>
        <p:nvSpPr>
          <p:cNvPr id="19" name="Freeform 19"/>
          <p:cNvSpPr/>
          <p:nvPr/>
        </p:nvSpPr>
        <p:spPr>
          <a:xfrm>
            <a:off x="2750039" y="3372117"/>
            <a:ext cx="586083" cy="585359"/>
          </a:xfrm>
          <a:custGeom>
            <a:avLst/>
            <a:gdLst/>
            <a:ahLst/>
            <a:cxnLst/>
            <a:rect l="l" t="t" r="r" b="b"/>
            <a:pathLst>
              <a:path w="586083" h="585359">
                <a:moveTo>
                  <a:pt x="0" y="0"/>
                </a:moveTo>
                <a:lnTo>
                  <a:pt x="586083" y="0"/>
                </a:lnTo>
                <a:lnTo>
                  <a:pt x="586083" y="585359"/>
                </a:lnTo>
                <a:lnTo>
                  <a:pt x="0" y="58535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 rot="5400000">
            <a:off x="2827439" y="3450241"/>
            <a:ext cx="430559" cy="429844"/>
            <a:chOff x="0" y="0"/>
            <a:chExt cx="574078" cy="57312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74040" cy="573151"/>
            </a:xfrm>
            <a:custGeom>
              <a:avLst/>
              <a:gdLst/>
              <a:ahLst/>
              <a:cxnLst/>
              <a:rect l="l" t="t" r="r" b="b"/>
              <a:pathLst>
                <a:path w="574040" h="573151">
                  <a:moveTo>
                    <a:pt x="287020" y="0"/>
                  </a:moveTo>
                  <a:cubicBezTo>
                    <a:pt x="128651" y="0"/>
                    <a:pt x="0" y="127762"/>
                    <a:pt x="0" y="286131"/>
                  </a:cubicBezTo>
                  <a:cubicBezTo>
                    <a:pt x="0" y="444500"/>
                    <a:pt x="128651" y="573151"/>
                    <a:pt x="287020" y="573151"/>
                  </a:cubicBezTo>
                  <a:cubicBezTo>
                    <a:pt x="445389" y="573151"/>
                    <a:pt x="574040" y="444627"/>
                    <a:pt x="574040" y="286131"/>
                  </a:cubicBezTo>
                  <a:cubicBezTo>
                    <a:pt x="574040" y="127635"/>
                    <a:pt x="445516" y="0"/>
                    <a:pt x="28702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2" name="Freeform 22"/>
          <p:cNvSpPr/>
          <p:nvPr/>
        </p:nvSpPr>
        <p:spPr>
          <a:xfrm>
            <a:off x="2822762" y="3445564"/>
            <a:ext cx="439922" cy="439198"/>
          </a:xfrm>
          <a:custGeom>
            <a:avLst/>
            <a:gdLst/>
            <a:ahLst/>
            <a:cxnLst/>
            <a:rect l="l" t="t" r="r" b="b"/>
            <a:pathLst>
              <a:path w="439922" h="439198">
                <a:moveTo>
                  <a:pt x="0" y="0"/>
                </a:moveTo>
                <a:lnTo>
                  <a:pt x="439922" y="0"/>
                </a:lnTo>
                <a:lnTo>
                  <a:pt x="439922" y="439198"/>
                </a:lnTo>
                <a:lnTo>
                  <a:pt x="0" y="43919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 rot="5400000">
            <a:off x="2907363" y="3529441"/>
            <a:ext cx="271443" cy="271443"/>
            <a:chOff x="0" y="0"/>
            <a:chExt cx="361925" cy="36192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181356" y="0"/>
                  </a:moveTo>
                  <a:cubicBezTo>
                    <a:pt x="81280" y="0"/>
                    <a:pt x="0" y="81407"/>
                    <a:pt x="0" y="180594"/>
                  </a:cubicBezTo>
                  <a:cubicBezTo>
                    <a:pt x="0" y="280543"/>
                    <a:pt x="81280" y="361950"/>
                    <a:pt x="181356" y="361950"/>
                  </a:cubicBezTo>
                  <a:cubicBezTo>
                    <a:pt x="281432" y="361950"/>
                    <a:pt x="361950" y="280543"/>
                    <a:pt x="361950" y="180594"/>
                  </a:cubicBezTo>
                  <a:cubicBezTo>
                    <a:pt x="361950" y="81407"/>
                    <a:pt x="281305" y="0"/>
                    <a:pt x="181356" y="0"/>
                  </a:cubicBezTo>
                  <a:close/>
                </a:path>
              </a:pathLst>
            </a:custGeom>
            <a:solidFill>
              <a:srgbClr val="77C6FC"/>
            </a:solidFill>
          </p:spPr>
        </p:sp>
      </p:grpSp>
      <p:sp>
        <p:nvSpPr>
          <p:cNvPr id="25" name="Freeform 25"/>
          <p:cNvSpPr/>
          <p:nvPr/>
        </p:nvSpPr>
        <p:spPr>
          <a:xfrm>
            <a:off x="2902677" y="3524764"/>
            <a:ext cx="280797" cy="281521"/>
          </a:xfrm>
          <a:custGeom>
            <a:avLst/>
            <a:gdLst/>
            <a:ahLst/>
            <a:cxnLst/>
            <a:rect l="l" t="t" r="r" b="b"/>
            <a:pathLst>
              <a:path w="280797" h="281521">
                <a:moveTo>
                  <a:pt x="0" y="0"/>
                </a:moveTo>
                <a:lnTo>
                  <a:pt x="280797" y="0"/>
                </a:lnTo>
                <a:lnTo>
                  <a:pt x="280797" y="281521"/>
                </a:lnTo>
                <a:lnTo>
                  <a:pt x="0" y="28152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3551044" y="2882884"/>
            <a:ext cx="53283" cy="349196"/>
          </a:xfrm>
          <a:custGeom>
            <a:avLst/>
            <a:gdLst/>
            <a:ahLst/>
            <a:cxnLst/>
            <a:rect l="l" t="t" r="r" b="b"/>
            <a:pathLst>
              <a:path w="53283" h="349196">
                <a:moveTo>
                  <a:pt x="0" y="0"/>
                </a:moveTo>
                <a:lnTo>
                  <a:pt x="53283" y="0"/>
                </a:lnTo>
                <a:lnTo>
                  <a:pt x="53283" y="349196"/>
                </a:lnTo>
                <a:lnTo>
                  <a:pt x="0" y="34919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3787921" y="8976236"/>
            <a:ext cx="53283" cy="349196"/>
          </a:xfrm>
          <a:custGeom>
            <a:avLst/>
            <a:gdLst/>
            <a:ahLst/>
            <a:cxnLst/>
            <a:rect l="l" t="t" r="r" b="b"/>
            <a:pathLst>
              <a:path w="53283" h="349196">
                <a:moveTo>
                  <a:pt x="0" y="0"/>
                </a:moveTo>
                <a:lnTo>
                  <a:pt x="53283" y="0"/>
                </a:lnTo>
                <a:lnTo>
                  <a:pt x="53283" y="349196"/>
                </a:lnTo>
                <a:lnTo>
                  <a:pt x="0" y="34919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966245" y="8133836"/>
            <a:ext cx="53283" cy="349196"/>
          </a:xfrm>
          <a:custGeom>
            <a:avLst/>
            <a:gdLst/>
            <a:ahLst/>
            <a:cxnLst/>
            <a:rect l="l" t="t" r="r" b="b"/>
            <a:pathLst>
              <a:path w="53283" h="349196">
                <a:moveTo>
                  <a:pt x="0" y="0"/>
                </a:moveTo>
                <a:lnTo>
                  <a:pt x="53282" y="0"/>
                </a:lnTo>
                <a:lnTo>
                  <a:pt x="53282" y="349196"/>
                </a:lnTo>
                <a:lnTo>
                  <a:pt x="0" y="349196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5122466" y="1470660"/>
            <a:ext cx="8159251" cy="5910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800"/>
              </a:lnSpc>
            </a:pPr>
            <a:r>
              <a:rPr lang="en-US" sz="14400" dirty="0">
                <a:solidFill>
                  <a:srgbClr val="000000"/>
                </a:solidFill>
                <a:latin typeface="Sedgwick Ave"/>
                <a:ea typeface="Sedgwick Ave"/>
                <a:cs typeface="Sedgwick Ave"/>
                <a:sym typeface="Sedgwick Ave"/>
              </a:rPr>
              <a:t>Thanks for</a:t>
            </a:r>
          </a:p>
          <a:p>
            <a:pPr algn="ctr">
              <a:lnSpc>
                <a:spcPts val="17280"/>
              </a:lnSpc>
            </a:pPr>
            <a:r>
              <a:rPr lang="en-US" sz="14400" dirty="0">
                <a:solidFill>
                  <a:srgbClr val="000000"/>
                </a:solidFill>
                <a:latin typeface="Sedgwick Ave"/>
                <a:ea typeface="Sedgwick Ave"/>
                <a:cs typeface="Sedgwick Ave"/>
                <a:sym typeface="Sedgwick Ave"/>
              </a:rPr>
              <a:t>listening!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7225694" y="9210675"/>
            <a:ext cx="219612" cy="50321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9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602</Words>
  <Application>Microsoft Office PowerPoint</Application>
  <PresentationFormat>Custom</PresentationFormat>
  <Paragraphs>170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4" baseType="lpstr">
      <vt:lpstr>Barlow</vt:lpstr>
      <vt:lpstr>Garet</vt:lpstr>
      <vt:lpstr>Sedgwick Ave</vt:lpstr>
      <vt:lpstr>Barlow Medium</vt:lpstr>
      <vt:lpstr>Calibri</vt:lpstr>
      <vt:lpstr>Garet Bold</vt:lpstr>
      <vt:lpstr>Arial</vt:lpstr>
      <vt:lpstr>Noto Sans Bold</vt:lpstr>
      <vt:lpstr>Arimo</vt:lpstr>
      <vt:lpstr>Cambria Math</vt:lpstr>
      <vt:lpstr>Barlow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in Medicine</dc:title>
  <cp:lastModifiedBy>Hoàng Kim Hương</cp:lastModifiedBy>
  <cp:revision>11</cp:revision>
  <dcterms:created xsi:type="dcterms:W3CDTF">2006-08-16T00:00:00Z</dcterms:created>
  <dcterms:modified xsi:type="dcterms:W3CDTF">2026-03-10T15:20:39Z</dcterms:modified>
  <dc:identifier>DAHDXoxOnvU</dc:identifier>
</cp:coreProperties>
</file>